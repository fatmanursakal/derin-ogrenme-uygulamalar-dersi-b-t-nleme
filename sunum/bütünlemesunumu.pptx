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1.svg" ContentType="image/svg+xml"/>
  <Override PartName="/ppt/media/image1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9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75" r:id="rId12"/>
    <p:sldId id="263" r:id="rId13"/>
    <p:sldId id="266" r:id="rId14"/>
    <p:sldId id="267" r:id="rId15"/>
    <p:sldId id="276" r:id="rId16"/>
    <p:sldId id="268" r:id="rId17"/>
    <p:sldId id="277" r:id="rId18"/>
    <p:sldId id="278" r:id="rId19"/>
    <p:sldId id="279" r:id="rId20"/>
    <p:sldId id="280" r:id="rId21"/>
    <p:sldId id="272" r:id="rId22"/>
    <p:sldId id="282" r:id="rId23"/>
    <p:sldId id="274" r:id="rId24"/>
  </p:sldIdLst>
  <p:sldSz cx="14630400" cy="8229600"/>
  <p:notesSz cx="8229600" cy="14630400"/>
  <p:embeddedFontLst>
    <p:embeddedFont>
      <p:font typeface="Unbounded" pitchFamily="34" charset="0"/>
      <p:bold r:id="rId28"/>
    </p:embeddedFont>
    <p:embeddedFont>
      <p:font typeface="Unbounded" pitchFamily="34" charset="-122"/>
      <p:bold r:id="rId29"/>
    </p:embeddedFont>
    <p:embeddedFont>
      <p:font typeface="Unbounded" pitchFamily="34" charset="-120"/>
      <p:bold r:id="rId30"/>
    </p:embeddedFont>
    <p:embeddedFont>
      <p:font typeface="Cabin" pitchFamily="34" charset="0"/>
      <p:bold r:id="rId31"/>
    </p:embeddedFont>
    <p:embeddedFont>
      <p:font typeface="Cabin" pitchFamily="34" charset="-122"/>
      <p:bold r:id="rId32"/>
    </p:embeddedFont>
    <p:embeddedFont>
      <p:font typeface="Cabin" pitchFamily="34" charset="-120"/>
      <p:bold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font" Target="fonts/font10.fntdata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20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2.png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4" Type="http://schemas.openxmlformats.org/officeDocument/2006/relationships/notesSlide" Target="../notesSlides/notesSlide7.xml"/><Relationship Id="rId33" Type="http://schemas.openxmlformats.org/officeDocument/2006/relationships/slideLayout" Target="../slideLayouts/slideLayout8.xml"/><Relationship Id="rId32" Type="http://schemas.openxmlformats.org/officeDocument/2006/relationships/tags" Target="../tags/tag68.xml"/><Relationship Id="rId31" Type="http://schemas.openxmlformats.org/officeDocument/2006/relationships/tags" Target="../tags/tag67.xml"/><Relationship Id="rId30" Type="http://schemas.openxmlformats.org/officeDocument/2006/relationships/tags" Target="../tags/tag66.xml"/><Relationship Id="rId3" Type="http://schemas.openxmlformats.org/officeDocument/2006/relationships/tags" Target="../tags/tag39.xml"/><Relationship Id="rId29" Type="http://schemas.openxmlformats.org/officeDocument/2006/relationships/tags" Target="../tags/tag65.xml"/><Relationship Id="rId28" Type="http://schemas.openxmlformats.org/officeDocument/2006/relationships/tags" Target="../tags/tag64.xml"/><Relationship Id="rId27" Type="http://schemas.openxmlformats.org/officeDocument/2006/relationships/tags" Target="../tags/tag63.xml"/><Relationship Id="rId26" Type="http://schemas.openxmlformats.org/officeDocument/2006/relationships/tags" Target="../tags/tag62.xml"/><Relationship Id="rId25" Type="http://schemas.openxmlformats.org/officeDocument/2006/relationships/tags" Target="../tags/tag61.xml"/><Relationship Id="rId24" Type="http://schemas.openxmlformats.org/officeDocument/2006/relationships/tags" Target="../tags/tag60.xml"/><Relationship Id="rId23" Type="http://schemas.openxmlformats.org/officeDocument/2006/relationships/tags" Target="../tags/tag59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2.svg"/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6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jpeg"/><Relationship Id="rId7" Type="http://schemas.openxmlformats.org/officeDocument/2006/relationships/image" Target="../media/image3.png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26.xml"/><Relationship Id="rId1" Type="http://schemas.openxmlformats.org/officeDocument/2006/relationships/tags" Target="../tags/tag7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37.xml"/><Relationship Id="rId13" Type="http://schemas.openxmlformats.org/officeDocument/2006/relationships/image" Target="../media/image16.png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tags" Target="../tags/tag76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8" Type="http://schemas.openxmlformats.org/officeDocument/2006/relationships/notesSlide" Target="../notesSlides/notesSlide19.xml"/><Relationship Id="rId27" Type="http://schemas.openxmlformats.org/officeDocument/2006/relationships/slideLayout" Target="../slideLayouts/slideLayout39.xml"/><Relationship Id="rId26" Type="http://schemas.openxmlformats.org/officeDocument/2006/relationships/tags" Target="../tags/tag113.xml"/><Relationship Id="rId25" Type="http://schemas.openxmlformats.org/officeDocument/2006/relationships/tags" Target="../tags/tag112.xml"/><Relationship Id="rId24" Type="http://schemas.openxmlformats.org/officeDocument/2006/relationships/tags" Target="../tags/tag111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tags" Target="../tags/tag89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45607"/>
            <a:ext cx="12954952" cy="12318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CIFAR-10 </a:t>
            </a:r>
            <a:r>
              <a:rPr lang="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Ü</a:t>
            </a:r>
            <a:r>
              <a:rPr lang="en-US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zerinde 5 Model Kar</a:t>
            </a:r>
            <a:r>
              <a:rPr lang="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şı</a:t>
            </a:r>
            <a:r>
              <a:rPr lang="en-US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</a:t>
            </a:r>
            <a:r>
              <a:rPr lang="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</a:t>
            </a:r>
            <a:r>
              <a:rPr lang="en-US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</a:t>
            </a:r>
            <a:r>
              <a:rPr lang="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rmas</a:t>
            </a:r>
            <a:r>
              <a:rPr lang="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(Ayn</a:t>
            </a:r>
            <a:r>
              <a:rPr lang="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</a:t>
            </a:r>
            <a:r>
              <a:rPr lang="en-US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artlar)</a:t>
            </a:r>
            <a:endParaRPr lang="en-US" altLang="en-US" sz="38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95400" y="2386330"/>
            <a:ext cx="12039600" cy="2062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CNN ve Vision Transformer Modellerinin Karşılaştırmalı Analizi</a:t>
            </a:r>
            <a:endParaRPr lang="en-US" sz="31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ctr">
              <a:lnSpc>
                <a:spcPts val="3850"/>
              </a:lnSpc>
              <a:buNone/>
            </a:pPr>
            <a:r>
              <a:rPr lang="en-US" alt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Modeller: SimpleCNN, CustomCNN, ResNet-18, ViT-Tiny, ConvNeXt-Tiny</a:t>
            </a:r>
            <a:endParaRPr lang="en-US" altLang="en-US" sz="31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ctr">
              <a:lnSpc>
                <a:spcPts val="3850"/>
              </a:lnSpc>
              <a:buNone/>
            </a:pPr>
            <a:endParaRPr lang="en-US" altLang="en-US" sz="31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ctr">
              <a:lnSpc>
                <a:spcPts val="3850"/>
              </a:lnSpc>
              <a:buNone/>
            </a:pP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37724" y="3660577"/>
            <a:ext cx="12954952" cy="670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7724" y="4566285"/>
            <a:ext cx="12954952" cy="335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Derin Öğrenme Uygulamaları Dersi </a:t>
            </a:r>
            <a:r>
              <a:rPr lang="tr-TR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Bütünleme</a:t>
            </a:r>
            <a:endParaRPr lang="tr-TR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7724" y="5136952"/>
            <a:ext cx="12954952" cy="335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tr-TR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Fatma Nur Sakal</a:t>
            </a:r>
            <a:endParaRPr lang="tr-TR" altLang="en-US" sz="16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7724" y="5707618"/>
            <a:ext cx="12954952" cy="335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254217006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/ Bilişim Sistemleri Mühendisliği Tezli Yüksek Lisans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7724" y="6278285"/>
            <a:ext cx="12954952" cy="335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Muğla Sıtkı Koçman Üniversitesi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7724" y="6848951"/>
            <a:ext cx="12954952" cy="335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tr-TR" altLang="en-US" sz="1600" u="sng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fatmanursakal</a:t>
            </a:r>
            <a:r>
              <a:rPr lang="en-US" sz="1600" u="sng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@posta.mu.edu.tr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0584" y="781050"/>
            <a:ext cx="8853011" cy="615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Motivasyon ve Problem Tanımı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0425" y="1816100"/>
            <a:ext cx="12954635" cy="1624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Görüntü s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fland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 problemlerinde mimari se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imi (CNN vs Transformer) model ba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belirgin bi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imde etkileyebilir. Ancak mimariler farkl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giri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boyutu, farkl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augmentation, farkl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protokolü ile 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ld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ığı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kar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 adil olmaz. Bu 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ma, CIFAR-10 üzerinde farkl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mimarileri ayn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artlarda 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rarak “mimari etkisi”ni ayr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rmay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hedefler.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860425" y="3627120"/>
            <a:ext cx="4178935" cy="3136265"/>
          </a:xfrm>
          <a:prstGeom prst="roundRect">
            <a:avLst>
              <a:gd name="adj" fmla="val 5848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1161455" y="3859530"/>
            <a:ext cx="3645456" cy="6160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tr-TR" alt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Adil Karşılaştırma</a:t>
            </a: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Sorun</a:t>
            </a:r>
            <a:r>
              <a:rPr lang="tr-TR" alt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</a:t>
            </a:r>
            <a:endParaRPr lang="tr-TR" altLang="en-US" sz="19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161415" y="4601210"/>
            <a:ext cx="3645535" cy="2139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Literatürde “en iyi model” söylemleri 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 zaman farkl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ön-i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leme ve farkl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ayarlar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yla raporlan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durum, performans fark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 mimariden mi yoksa pipeline farklar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ndan m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geldi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ini belirsizle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tirir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5248910" y="3627120"/>
            <a:ext cx="4178935" cy="3158490"/>
          </a:xfrm>
          <a:prstGeom prst="roundRect">
            <a:avLst>
              <a:gd name="adj" fmla="val 5848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5549503" y="3859530"/>
            <a:ext cx="3645575" cy="6160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tr-TR" alt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CIFAR-10 Verisetinin Rolü</a:t>
            </a:r>
            <a:endParaRPr lang="tr-TR" altLang="en-US" sz="19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5549265" y="4601210"/>
            <a:ext cx="3645535" cy="21266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CIFAR-10 kü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ük boyutlu (32×32) ama zengin s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 i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eri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ine sahip klasik bir benchmark’t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 sürede 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oklu model deneyi yapmak ve kar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rmal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analiz üretmek i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uygundur.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9636760" y="3627120"/>
            <a:ext cx="4558030" cy="3136900"/>
          </a:xfrm>
          <a:prstGeom prst="roundRect">
            <a:avLst>
              <a:gd name="adj" fmla="val 5848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9869805" y="3859530"/>
            <a:ext cx="3546475" cy="63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Otomatik </a:t>
            </a:r>
            <a:r>
              <a:rPr lang="tr-TR" alt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 Tekrarlanabilir</a:t>
            </a:r>
            <a:endParaRPr lang="tr-TR" altLang="en-US" sz="19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tr-TR" alt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Pipeline</a:t>
            </a: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İhtiyacı</a:t>
            </a:r>
            <a:endParaRPr lang="en-US" sz="19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9937115" y="4601210"/>
            <a:ext cx="3645535" cy="2101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oklu modeli tek tek e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itmek zaman al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 ve hata riski olu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turur.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proje, tek komutla e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+ de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erlendirme + görselle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tirme üreten bir repo ak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ile tekrarlanabilir sonu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üretir.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74671" y="7216854"/>
            <a:ext cx="12640866" cy="335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Hedef: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CIFAR-10 üzerinde SimpleCNN, CustomCNN, ResNet-18, ViT-Tiny, ConvNeXt-Tiny performanslar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ayn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protokol ile kar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rmak.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60584" y="6981230"/>
            <a:ext cx="22860" cy="806291"/>
          </a:xfrm>
          <a:prstGeom prst="rect">
            <a:avLst/>
          </a:prstGeom>
          <a:solidFill>
            <a:srgbClr val="0A988B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359" y="609878"/>
            <a:ext cx="11608594" cy="615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Çalışmanın Amacı ve Araştırma Soruları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565" y="1755140"/>
            <a:ext cx="12954635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ma, CIFAR-10 üzerinde farkl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mimarilerin s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fland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 performans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sistematik ve standardize bir protokol ile kar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 Uygulama geli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tirmeden ziyade kar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analiz ve yorum odakl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837565" y="2951580"/>
            <a:ext cx="4149235" cy="3753919"/>
          </a:xfrm>
          <a:prstGeom prst="roundRect">
            <a:avLst>
              <a:gd name="adj" fmla="val 1166"/>
            </a:avLst>
          </a:prstGeom>
          <a:solidFill>
            <a:srgbClr val="304755"/>
          </a:solidFill>
        </p:spPr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1045626" y="3290152"/>
            <a:ext cx="3171980" cy="4281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Karşılaştırması</a:t>
            </a:r>
            <a:endParaRPr lang="en-US" sz="1900" dirty="0"/>
          </a:p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1045626" y="3768691"/>
            <a:ext cx="3733113" cy="26329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Ayn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giri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boyutu ve benzer e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düzeni alt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CNN tabanl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modeller mi, yoksa Transformer/modern mimariler mi daha ba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?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Mimari karma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kl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ığı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(ResNet/ConvNeXt/ViT) ile do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ruluk art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aras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gözlenen ili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ki nedir?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4"/>
            </p:custDataLst>
          </p:nvPr>
        </p:nvSpPr>
        <p:spPr>
          <a:xfrm>
            <a:off x="5194860" y="2951580"/>
            <a:ext cx="4149235" cy="3753919"/>
          </a:xfrm>
          <a:prstGeom prst="roundRect">
            <a:avLst>
              <a:gd name="adj" fmla="val 1166"/>
            </a:avLst>
          </a:prstGeom>
          <a:solidFill>
            <a:srgbClr val="304755"/>
          </a:solidFill>
        </p:spPr>
      </p:sp>
      <p:sp>
        <p:nvSpPr>
          <p:cNvPr id="12" name="Text 8"/>
          <p:cNvSpPr/>
          <p:nvPr>
            <p:custDataLst>
              <p:tags r:id="rId5"/>
            </p:custDataLst>
          </p:nvPr>
        </p:nvSpPr>
        <p:spPr>
          <a:xfrm>
            <a:off x="5402291" y="3263671"/>
            <a:ext cx="3733113" cy="856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alt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Veri Art</a:t>
            </a:r>
            <a:r>
              <a:rPr lang="" alt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rma (Augmentation) Etkisi</a:t>
            </a:r>
            <a:endParaRPr lang="en-US" altLang="en-US" sz="19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6"/>
            </p:custDataLst>
          </p:nvPr>
        </p:nvSpPr>
        <p:spPr>
          <a:xfrm>
            <a:off x="5402291" y="3995036"/>
            <a:ext cx="3733113" cy="24059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Ayn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model i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augmentation a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k/kapal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senaryosu performans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anlaml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öl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üde de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tiriyor mu?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Özellikle ResNet-18 üzerinde “Aug ON vs OFF” ablation sonucu ne söylüyor?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4" name="Shape 10"/>
          <p:cNvSpPr/>
          <p:nvPr>
            <p:custDataLst>
              <p:tags r:id="rId7"/>
            </p:custDataLst>
          </p:nvPr>
        </p:nvSpPr>
        <p:spPr>
          <a:xfrm>
            <a:off x="9551670" y="2951480"/>
            <a:ext cx="4535170" cy="3754120"/>
          </a:xfrm>
          <a:prstGeom prst="roundRect">
            <a:avLst>
              <a:gd name="adj" fmla="val 1166"/>
            </a:avLst>
          </a:prstGeom>
          <a:solidFill>
            <a:srgbClr val="304755"/>
          </a:solidFill>
        </p:spPr>
      </p:sp>
      <p:sp>
        <p:nvSpPr>
          <p:cNvPr id="17" name="Text 12"/>
          <p:cNvSpPr/>
          <p:nvPr>
            <p:custDataLst>
              <p:tags r:id="rId8"/>
            </p:custDataLst>
          </p:nvPr>
        </p:nvSpPr>
        <p:spPr>
          <a:xfrm>
            <a:off x="9759586" y="3290152"/>
            <a:ext cx="2446920" cy="4281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alt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Kritik Metrik ve Güvenilirlik</a:t>
            </a:r>
            <a:endParaRPr lang="en-US" altLang="en-US" sz="19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8" name="Text 13"/>
          <p:cNvSpPr/>
          <p:nvPr>
            <p:custDataLst>
              <p:tags r:id="rId9"/>
            </p:custDataLst>
          </p:nvPr>
        </p:nvSpPr>
        <p:spPr>
          <a:xfrm>
            <a:off x="9759315" y="3878580"/>
            <a:ext cx="3733165" cy="23679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projede ana metrik accuracy (val/test) olarak raporlanm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Ek olarak confusion matrix ve s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 bazl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hatalar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 analizi ile “hangi s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flar kar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yor?” sorusu yan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tlanm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37724" y="6924040"/>
            <a:ext cx="12954952" cy="889873"/>
          </a:xfrm>
          <a:prstGeom prst="roundRect">
            <a:avLst>
              <a:gd name="adj" fmla="val 3531"/>
            </a:avLst>
          </a:prstGeom>
          <a:solidFill>
            <a:srgbClr val="054842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7155" y="7238603"/>
            <a:ext cx="261818" cy="20943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18404" y="7185739"/>
            <a:ext cx="12064841" cy="335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Önemli Not:</a:t>
            </a: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</a:t>
            </a:r>
            <a:r>
              <a:rPr lang="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</a:t>
            </a:r>
            <a:r>
              <a:rPr lang="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 bir “yeni model icad</a:t>
            </a:r>
            <a:r>
              <a:rPr lang="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” de</a:t>
            </a:r>
            <a:r>
              <a:rPr lang="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il; ayn</a:t>
            </a:r>
            <a:r>
              <a:rPr lang="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artlarda </a:t>
            </a:r>
            <a:r>
              <a:rPr lang="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oklu mimari kar</a:t>
            </a:r>
            <a:r>
              <a:rPr lang="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rmas</a:t>
            </a:r>
            <a:r>
              <a:rPr lang="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ve görsel/istatistiksel analiz projesidir.</a:t>
            </a:r>
            <a:endParaRPr lang="en-US" altLang="en-US" sz="1600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46246"/>
            <a:ext cx="9708356" cy="6159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CIFAR-10 BA</a:t>
            </a:r>
            <a:r>
              <a:rPr lang="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Ğ</a:t>
            </a:r>
            <a:r>
              <a:rPr lang="en-US" alt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LAMI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565" y="6335395"/>
            <a:ext cx="12487275" cy="6559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tr-TR" alt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Vurgu: </a:t>
            </a:r>
            <a:r>
              <a:rPr lang="en-US" alt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Bu standardizasyon, mimari karşılaştırmasını “farklı input boyutu etkisi”nden arındırmayı amaçlar.</a:t>
            </a:r>
            <a:endParaRPr lang="en-US" altLang="en-US" sz="19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tr-TR" altLang="en-US" sz="19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7565" y="3740150"/>
            <a:ext cx="12954635" cy="21697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CIFAR-10, 10 s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fta do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 görüntüler i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eren ve bilgisayarl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görü alan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yayg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 kullan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lan bir benchmark veri setidir. Bu veri seti, dü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ük 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özünürlüklü görüntüler (32×32) ile 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ığı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h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prototipleme sa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lar; ancak modern mimariler 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unlukla 224×224 giri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bekledi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inden, bu projede adil kar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 amac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yla tüm modeller 224×224 giri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 standardize edilmi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2600"/>
              </a:lnSpc>
              <a:buNone/>
            </a:pP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2600"/>
              </a:lnSpc>
              <a:buNone/>
            </a:pP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622935"/>
            <a:ext cx="4189095" cy="523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Veri Seti Tanıtımı</a:t>
            </a:r>
            <a:endParaRPr lang="en-US" sz="3250" dirty="0"/>
          </a:p>
        </p:txBody>
      </p:sp>
      <p:sp>
        <p:nvSpPr>
          <p:cNvPr id="10" name="Shape 7"/>
          <p:cNvSpPr/>
          <p:nvPr>
            <p:custDataLst>
              <p:tags r:id="rId1"/>
            </p:custDataLst>
          </p:nvPr>
        </p:nvSpPr>
        <p:spPr>
          <a:xfrm>
            <a:off x="837565" y="1544320"/>
            <a:ext cx="7468870" cy="2394585"/>
          </a:xfrm>
          <a:prstGeom prst="roundRect">
            <a:avLst>
              <a:gd name="adj" fmla="val 2531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2"/>
            </p:custDataLst>
          </p:nvPr>
        </p:nvSpPr>
        <p:spPr>
          <a:xfrm>
            <a:off x="1015722" y="1767999"/>
            <a:ext cx="2566154" cy="261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Veri Seti Tan</a:t>
            </a:r>
            <a:r>
              <a:rPr lang="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</a:t>
            </a:r>
            <a:r>
              <a:rPr lang="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</a:t>
            </a:r>
            <a:r>
              <a:rPr lang="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– CIFAR-10</a:t>
            </a:r>
            <a:endParaRPr lang="en-US" altLang="en-US" sz="16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3"/>
            </p:custDataLst>
          </p:nvPr>
        </p:nvSpPr>
        <p:spPr>
          <a:xfrm>
            <a:off x="1038860" y="2179955"/>
            <a:ext cx="7267575" cy="148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flar (10): airplane, automobile, bird, cat, deer, dog, frog, horse, ship, truck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Her s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 görsel a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dan birbirine yak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 alt örüntüler ta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yabildi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 i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“inter-class confusion”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indent="0" algn="l">
              <a:lnSpc>
                <a:spcPts val="2200"/>
              </a:lnSpc>
              <a:buFont typeface="Arial" panose="020B0604020202020204" pitchFamily="34" charset="0"/>
              <a:buNone/>
            </a:pPr>
            <a:r>
              <a:rPr lang="tr-TR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  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analizi i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uygundur.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mada veri seti torchvision.datasets.CIFAR10 ile otomatik indirilmi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tek tip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indent="0" algn="l">
              <a:lnSpc>
                <a:spcPts val="2200"/>
              </a:lnSpc>
              <a:buFont typeface="Arial" panose="020B0604020202020204" pitchFamily="34" charset="0"/>
              <a:buNone/>
            </a:pPr>
            <a:r>
              <a:rPr lang="tr-TR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   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ön-i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leme uygulanm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4"/>
            </p:custDataLst>
          </p:nvPr>
        </p:nvSpPr>
        <p:spPr>
          <a:xfrm>
            <a:off x="837565" y="4128135"/>
            <a:ext cx="7468870" cy="1687195"/>
          </a:xfrm>
          <a:prstGeom prst="roundRect">
            <a:avLst>
              <a:gd name="adj" fmla="val 2531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5"/>
            </p:custDataLst>
          </p:nvPr>
        </p:nvSpPr>
        <p:spPr>
          <a:xfrm>
            <a:off x="1015722" y="4277995"/>
            <a:ext cx="2787848" cy="261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Ön-</a:t>
            </a:r>
            <a:r>
              <a:rPr lang="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İş</a:t>
            </a: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leme (Ortak Protokol)</a:t>
            </a:r>
            <a:endParaRPr lang="en-US" altLang="en-US" sz="16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1038860" y="4700270"/>
            <a:ext cx="7066915" cy="1464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Tüm modeller i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giri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224×224 (CIFAR-10 32×32 → resize)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Normalize: CIFAR-10 mean/std (kodda sabit)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Ama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tüm mimarileri ayn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öl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ekte kar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rmak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37565" y="6165215"/>
            <a:ext cx="7468870" cy="1442085"/>
          </a:xfrm>
          <a:prstGeom prst="roundRect">
            <a:avLst>
              <a:gd name="adj" fmla="val 2565"/>
            </a:avLst>
          </a:prstGeom>
          <a:solidFill>
            <a:srgbClr val="054842"/>
          </a:solidFill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97" y="6496248"/>
            <a:ext cx="222528" cy="17799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94023" y="6446361"/>
            <a:ext cx="6712029" cy="5695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Not</a:t>
            </a:r>
            <a:r>
              <a:rPr lang="en-US" sz="14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32×32 → 224×224 büyütme, bilgi eklemez; sadece giri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öl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ini standardize eder. Bu nedenle performans; mimari kapasitesi + e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protokolü + augmentation ile belirlenir.</a:t>
            </a:r>
            <a:endParaRPr lang="en-US" altLang="en-US" sz="1400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19" name="Picture 18"/>
          <p:cNvPicPr/>
          <p:nvPr/>
        </p:nvPicPr>
        <p:blipFill>
          <a:blip r:embed="rId8"/>
          <a:stretch>
            <a:fillRect/>
          </a:stretch>
        </p:blipFill>
        <p:spPr>
          <a:xfrm>
            <a:off x="8598535" y="635"/>
            <a:ext cx="603186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94623"/>
            <a:ext cx="6915626" cy="5851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Veri Bölümleme Stratejisi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37724" y="1777722"/>
            <a:ext cx="12954952" cy="6365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CIFAR-10 veri setinin torchvision üzerinden sa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lanan resmi train/test ayr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kullan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lm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a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amas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data augmentation uygulanm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performans metrikleri ba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 test seti üzerinde raporlanm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837565" y="2637790"/>
            <a:ext cx="4185920" cy="4692015"/>
          </a:xfrm>
          <a:prstGeom prst="roundRect">
            <a:avLst>
              <a:gd name="adj" fmla="val 1584"/>
            </a:avLst>
          </a:prstGeom>
          <a:solidFill>
            <a:srgbClr val="304755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036677" y="2837021"/>
            <a:ext cx="2391132" cy="292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Eğitim Seti (Train)</a:t>
            </a:r>
            <a:endParaRPr lang="en-US" sz="18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036677" y="3248858"/>
            <a:ext cx="3787735" cy="3182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alt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50.000</a:t>
            </a:r>
            <a:r>
              <a:rPr 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görüntü (</a:t>
            </a:r>
            <a:r>
              <a:rPr lang="en-US" alt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%83,33</a:t>
            </a:r>
            <a:r>
              <a:rPr 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</a:t>
            </a:r>
            <a:endParaRPr lang="en-US" sz="155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036955" y="3686175"/>
            <a:ext cx="3787775" cy="32981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Model a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klar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bu veri üzerinde ö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renilmi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s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ras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data augmentation (RandomResizedCrop, Horizontal Flip) uygulanm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5222240" y="2637790"/>
            <a:ext cx="4185920" cy="4668520"/>
          </a:xfrm>
          <a:prstGeom prst="roundRect">
            <a:avLst>
              <a:gd name="adj" fmla="val 1584"/>
            </a:avLst>
          </a:prstGeom>
          <a:solidFill>
            <a:srgbClr val="304755"/>
          </a:solidFill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5420995" y="2837180"/>
            <a:ext cx="3787140" cy="6261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Augmentation </a:t>
            </a:r>
            <a:endParaRPr lang="en-US" altLang="en-US" sz="18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(</a:t>
            </a:r>
            <a:r>
              <a:rPr lang="tr-TR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Yalnızca </a:t>
            </a:r>
            <a:r>
              <a:rPr lang="en-US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 </a:t>
            </a:r>
            <a:r>
              <a:rPr lang="tr-TR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İçin</a:t>
            </a:r>
            <a:r>
              <a:rPr lang="en-US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)</a:t>
            </a:r>
            <a:endParaRPr lang="en-US" altLang="en-US" sz="18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5421273" y="3552388"/>
            <a:ext cx="3787735" cy="3182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alt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50.000</a:t>
            </a:r>
            <a:r>
              <a:rPr 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 görüntü (</a:t>
            </a:r>
            <a:r>
              <a:rPr lang="en-US" alt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%83,33</a:t>
            </a:r>
            <a:r>
              <a:rPr 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)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tr-TR" altLang="en-US" sz="155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5420995" y="3869690"/>
            <a:ext cx="3787775" cy="3279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modelin genelleme kabiliyetini art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rmak amac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yla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daki dönü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ümler</a:t>
            </a:r>
            <a:r>
              <a:rPr lang="tr-TR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yaln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zca train setine uygulanm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r: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indent="0" algn="l">
              <a:lnSpc>
                <a:spcPts val="2500"/>
              </a:lnSpc>
              <a:buFont typeface="Arial" panose="020B0604020202020204" pitchFamily="34" charset="0"/>
              <a:buNone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- RandomResizedCrop (224×224)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indent="0" algn="l">
              <a:lnSpc>
                <a:spcPts val="2500"/>
              </a:lnSpc>
              <a:buFont typeface="Arial" panose="020B0604020202020204" pitchFamily="34" charset="0"/>
              <a:buNone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- RandomHorizontalFlip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indent="0" algn="l">
              <a:lnSpc>
                <a:spcPts val="2500"/>
              </a:lnSpc>
              <a:buFont typeface="Arial" panose="020B0604020202020204" pitchFamily="34" charset="0"/>
              <a:buNone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- Normalization (CIFAR-10 mean/std)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 verisi üzerinde herhangi bir augmentation uygulanmam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9606915" y="2637790"/>
            <a:ext cx="4185920" cy="4644390"/>
          </a:xfrm>
          <a:prstGeom prst="roundRect">
            <a:avLst>
              <a:gd name="adj" fmla="val 1584"/>
            </a:avLst>
          </a:prstGeom>
          <a:solidFill>
            <a:srgbClr val="304755"/>
          </a:solidFill>
        </p:spPr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9805868" y="2837021"/>
            <a:ext cx="2340888" cy="292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 Seti (Test)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9805868" y="3248858"/>
            <a:ext cx="3787735" cy="3182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alt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10.000</a:t>
            </a:r>
            <a:r>
              <a:rPr 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görüntü (</a:t>
            </a:r>
            <a:r>
              <a:rPr lang="en-US" alt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%16,67</a:t>
            </a:r>
            <a:r>
              <a:rPr 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</a:t>
            </a:r>
            <a:endParaRPr lang="en-US" sz="155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9805670" y="3686175"/>
            <a:ext cx="3787775" cy="2104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Nihai ba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`test_acc` bu veri üzerinde raporlanm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Confusion matrix ve s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 bazl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hata analizi bu a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amada yap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lm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176" y="574953"/>
            <a:ext cx="4986814" cy="5534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Genel Yöntem Akışı</a:t>
            </a:r>
            <a:endParaRPr lang="en-US" sz="345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836176" y="1496457"/>
            <a:ext cx="188119" cy="2351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836176" y="1793399"/>
            <a:ext cx="6384965" cy="22860"/>
          </a:xfrm>
          <a:prstGeom prst="rect">
            <a:avLst/>
          </a:prstGeom>
          <a:solidFill>
            <a:srgbClr val="0A988B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836176" y="1933178"/>
            <a:ext cx="4060269" cy="276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Veri Yükleme ve Normalizasyon</a:t>
            </a:r>
            <a:endParaRPr lang="en-US" sz="17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836176" y="2322632"/>
            <a:ext cx="6384965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CIFAR-10 indir → Tensor’a 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evir → mean/std ile normalize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409259" y="1496457"/>
            <a:ext cx="188119" cy="2351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7409259" y="1793399"/>
            <a:ext cx="6384965" cy="22860"/>
          </a:xfrm>
          <a:prstGeom prst="rect">
            <a:avLst/>
          </a:prstGeom>
          <a:solidFill>
            <a:srgbClr val="0A988B"/>
          </a:solidFill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7409259" y="1933178"/>
            <a:ext cx="2213610" cy="276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Giri</a:t>
            </a:r>
            <a:r>
              <a:rPr lang="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</a:t>
            </a: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Boyutu Standardizasyonu</a:t>
            </a:r>
            <a:endParaRPr lang="en-US" altLang="en-US" sz="17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7409259" y="2322632"/>
            <a:ext cx="6384965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Tüm modeller 224×224 giri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görür (fair comparison)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836176" y="2952829"/>
            <a:ext cx="188119" cy="2351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836176" y="3249771"/>
            <a:ext cx="6384965" cy="22860"/>
          </a:xfrm>
          <a:prstGeom prst="rect">
            <a:avLst/>
          </a:prstGeom>
          <a:solidFill>
            <a:srgbClr val="0A988B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836176" y="3389551"/>
            <a:ext cx="2213610" cy="276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Veri Art</a:t>
            </a:r>
            <a:r>
              <a:rPr lang="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rma</a:t>
            </a:r>
            <a:endParaRPr lang="en-US" altLang="en-US" sz="17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836295" y="3699510"/>
            <a:ext cx="6384925" cy="63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Aug ON: RandomResizedCrop + HorizontalFlip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Aug OFF: Sadece Resize + Normalize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7409259" y="2952829"/>
            <a:ext cx="188119" cy="2351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7409259" y="3249771"/>
            <a:ext cx="6384965" cy="22860"/>
          </a:xfrm>
          <a:prstGeom prst="rect">
            <a:avLst/>
          </a:prstGeom>
          <a:solidFill>
            <a:srgbClr val="0A988B"/>
          </a:solidFill>
        </p:spPr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7409259" y="3389551"/>
            <a:ext cx="2213610" cy="276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Se</a:t>
            </a:r>
            <a:r>
              <a:rPr lang="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ç</a:t>
            </a: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imi</a:t>
            </a:r>
            <a:endParaRPr lang="en-US" altLang="en-US" sz="17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7409259" y="3779004"/>
            <a:ext cx="6384965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SimpleCNN, CustomCNN, ResNet-18, ViT-Tiny, ConvNeXt-Tiny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7"/>
            </p:custDataLst>
          </p:nvPr>
        </p:nvSpPr>
        <p:spPr>
          <a:xfrm>
            <a:off x="836176" y="4409202"/>
            <a:ext cx="188119" cy="2351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1" name="Shape 19"/>
          <p:cNvSpPr/>
          <p:nvPr>
            <p:custDataLst>
              <p:tags r:id="rId18"/>
            </p:custDataLst>
          </p:nvPr>
        </p:nvSpPr>
        <p:spPr>
          <a:xfrm>
            <a:off x="836176" y="4706144"/>
            <a:ext cx="6384965" cy="22860"/>
          </a:xfrm>
          <a:prstGeom prst="rect">
            <a:avLst/>
          </a:prstGeom>
          <a:solidFill>
            <a:srgbClr val="0A988B"/>
          </a:solidFill>
        </p:spPr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836176" y="4845923"/>
            <a:ext cx="2213610" cy="276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</a:t>
            </a:r>
            <a:r>
              <a:rPr lang="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ğ</a:t>
            </a: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itim</a:t>
            </a:r>
            <a:endParaRPr lang="en-US" altLang="en-US" sz="17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836295" y="5156200"/>
            <a:ext cx="6384925" cy="579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AdamW optimizer, sabit lr (kodda lr=1e-3)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Varsay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lan k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 e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itim: epochs=3 (rapor üretimi i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in)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4" name="Text 22"/>
          <p:cNvSpPr/>
          <p:nvPr>
            <p:custDataLst>
              <p:tags r:id="rId21"/>
            </p:custDataLst>
          </p:nvPr>
        </p:nvSpPr>
        <p:spPr>
          <a:xfrm>
            <a:off x="7409259" y="4409202"/>
            <a:ext cx="188119" cy="2351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7409259" y="4706144"/>
            <a:ext cx="6384965" cy="22860"/>
          </a:xfrm>
          <a:prstGeom prst="rect">
            <a:avLst/>
          </a:prstGeom>
          <a:solidFill>
            <a:srgbClr val="0A988B"/>
          </a:solidFill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7409259" y="4845923"/>
            <a:ext cx="2213610" cy="276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Checkpoint Kayd</a:t>
            </a:r>
            <a:r>
              <a:rPr lang="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endParaRPr lang="" altLang="en-US" sz="17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7409259" y="5235377"/>
            <a:ext cx="6384965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 iyi val_acc görülen model: best.pt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8" name="Text 26"/>
          <p:cNvSpPr/>
          <p:nvPr>
            <p:custDataLst>
              <p:tags r:id="rId25"/>
            </p:custDataLst>
          </p:nvPr>
        </p:nvSpPr>
        <p:spPr>
          <a:xfrm>
            <a:off x="836176" y="5865574"/>
            <a:ext cx="188119" cy="2351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07</a:t>
            </a:r>
            <a:endParaRPr lang="en-US" sz="1450" dirty="0"/>
          </a:p>
        </p:txBody>
      </p:sp>
      <p:sp>
        <p:nvSpPr>
          <p:cNvPr id="29" name="Shape 27"/>
          <p:cNvSpPr/>
          <p:nvPr>
            <p:custDataLst>
              <p:tags r:id="rId26"/>
            </p:custDataLst>
          </p:nvPr>
        </p:nvSpPr>
        <p:spPr>
          <a:xfrm>
            <a:off x="836176" y="6162516"/>
            <a:ext cx="6384965" cy="22860"/>
          </a:xfrm>
          <a:prstGeom prst="rect">
            <a:avLst/>
          </a:prstGeom>
          <a:solidFill>
            <a:srgbClr val="0A988B"/>
          </a:solidFill>
        </p:spPr>
      </p:sp>
      <p:sp>
        <p:nvSpPr>
          <p:cNvPr id="30" name="Text 28"/>
          <p:cNvSpPr/>
          <p:nvPr>
            <p:custDataLst>
              <p:tags r:id="rId27"/>
            </p:custDataLst>
          </p:nvPr>
        </p:nvSpPr>
        <p:spPr>
          <a:xfrm>
            <a:off x="836176" y="6302296"/>
            <a:ext cx="2772728" cy="276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 Değerlendirmesi</a:t>
            </a:r>
            <a:endParaRPr lang="en-US" sz="1700" dirty="0"/>
          </a:p>
        </p:txBody>
      </p:sp>
      <p:sp>
        <p:nvSpPr>
          <p:cNvPr id="31" name="Text 29"/>
          <p:cNvSpPr/>
          <p:nvPr>
            <p:custDataLst>
              <p:tags r:id="rId28"/>
            </p:custDataLst>
          </p:nvPr>
        </p:nvSpPr>
        <p:spPr>
          <a:xfrm>
            <a:off x="836176" y="6691749"/>
            <a:ext cx="6384965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 accuracy + confusion matrix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(Ayr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 classification_report 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kt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terminalde üretilir)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32" name="Text 30"/>
          <p:cNvSpPr/>
          <p:nvPr>
            <p:custDataLst>
              <p:tags r:id="rId29"/>
            </p:custDataLst>
          </p:nvPr>
        </p:nvSpPr>
        <p:spPr>
          <a:xfrm>
            <a:off x="7409259" y="5865574"/>
            <a:ext cx="188119" cy="2351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08</a:t>
            </a:r>
            <a:endParaRPr lang="en-US" sz="1450" dirty="0"/>
          </a:p>
        </p:txBody>
      </p:sp>
      <p:sp>
        <p:nvSpPr>
          <p:cNvPr id="33" name="Shape 31"/>
          <p:cNvSpPr/>
          <p:nvPr>
            <p:custDataLst>
              <p:tags r:id="rId30"/>
            </p:custDataLst>
          </p:nvPr>
        </p:nvSpPr>
        <p:spPr>
          <a:xfrm>
            <a:off x="7409259" y="6162516"/>
            <a:ext cx="6384965" cy="22860"/>
          </a:xfrm>
          <a:prstGeom prst="rect">
            <a:avLst/>
          </a:prstGeom>
          <a:solidFill>
            <a:srgbClr val="0A988B"/>
          </a:solidFill>
        </p:spPr>
      </p:sp>
      <p:sp>
        <p:nvSpPr>
          <p:cNvPr id="34" name="Text 32"/>
          <p:cNvSpPr/>
          <p:nvPr>
            <p:custDataLst>
              <p:tags r:id="rId31"/>
            </p:custDataLst>
          </p:nvPr>
        </p:nvSpPr>
        <p:spPr>
          <a:xfrm>
            <a:off x="7409259" y="6302296"/>
            <a:ext cx="4131945" cy="2765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Görselleştirme ve Karşılaştırma</a:t>
            </a:r>
            <a:endParaRPr lang="en-US" sz="1700" dirty="0"/>
          </a:p>
        </p:txBody>
      </p:sp>
      <p:sp>
        <p:nvSpPr>
          <p:cNvPr id="35" name="Text 33"/>
          <p:cNvSpPr/>
          <p:nvPr>
            <p:custDataLst>
              <p:tags r:id="rId32"/>
            </p:custDataLst>
          </p:nvPr>
        </p:nvSpPr>
        <p:spPr>
          <a:xfrm>
            <a:off x="7409180" y="6617335"/>
            <a:ext cx="6384925" cy="8870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Loss/accuracy e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rileri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Confusion matrix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Tüm modellerin tek grafikte kar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rmas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compare_all_models.png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24126"/>
            <a:ext cx="9608939" cy="5851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alt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</a:t>
            </a:r>
            <a:r>
              <a:rPr lang="" alt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</a:t>
            </a:r>
            <a:r>
              <a:rPr lang="en-US" alt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 KAR</a:t>
            </a:r>
            <a:r>
              <a:rPr lang="" alt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</a:t>
            </a:r>
            <a:r>
              <a:rPr lang="en-US" alt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ILA</a:t>
            </a:r>
            <a:r>
              <a:rPr lang="" alt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</a:t>
            </a:r>
            <a:r>
              <a:rPr lang="en-US" alt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TIRMA STRATEJ</a:t>
            </a:r>
            <a:r>
              <a:rPr lang="" alt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</a:t>
            </a:r>
            <a:r>
              <a:rPr lang="en-US" alt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</a:t>
            </a:r>
            <a:r>
              <a:rPr lang="" alt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</a:t>
            </a:r>
            <a:endParaRPr lang="" altLang="en-US" sz="36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37724" y="1288852"/>
            <a:ext cx="3565327" cy="292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Adil Kar</a:t>
            </a:r>
            <a:r>
              <a:rPr lang="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şı</a:t>
            </a: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</a:t>
            </a:r>
            <a:r>
              <a:rPr lang="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</a:t>
            </a: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</a:t>
            </a:r>
            <a:r>
              <a:rPr lang="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rma Protokolü: Ayn</a:t>
            </a:r>
            <a:r>
              <a:rPr lang="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</a:t>
            </a: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artlar</a:t>
            </a:r>
            <a:endParaRPr lang="en-US" altLang="en-US" sz="18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37724" y="2778085"/>
            <a:ext cx="4185642" cy="2404110"/>
          </a:xfrm>
          <a:prstGeom prst="roundRect">
            <a:avLst>
              <a:gd name="adj" fmla="val 4564"/>
            </a:avLst>
          </a:prstGeom>
          <a:solidFill>
            <a:srgbClr val="112836"/>
          </a:solidFill>
        </p:spPr>
      </p:sp>
      <p:sp>
        <p:nvSpPr>
          <p:cNvPr id="12" name="Shape 10"/>
          <p:cNvSpPr/>
          <p:nvPr/>
        </p:nvSpPr>
        <p:spPr>
          <a:xfrm>
            <a:off x="837724" y="2755225"/>
            <a:ext cx="4185642" cy="91440"/>
          </a:xfrm>
          <a:prstGeom prst="roundRect">
            <a:avLst>
              <a:gd name="adj" fmla="val 32642"/>
            </a:avLst>
          </a:prstGeom>
          <a:solidFill>
            <a:srgbClr val="0A988B"/>
          </a:solidFill>
        </p:spPr>
      </p:sp>
      <p:sp>
        <p:nvSpPr>
          <p:cNvPr id="13" name="Shape 11"/>
          <p:cNvSpPr/>
          <p:nvPr/>
        </p:nvSpPr>
        <p:spPr>
          <a:xfrm>
            <a:off x="2632055" y="2479715"/>
            <a:ext cx="596860" cy="596860"/>
          </a:xfrm>
          <a:prstGeom prst="roundRect">
            <a:avLst>
              <a:gd name="adj" fmla="val 153202"/>
            </a:avLst>
          </a:prstGeom>
          <a:solidFill>
            <a:srgbClr val="0A988B"/>
          </a:solidFill>
        </p:spPr>
      </p:sp>
      <p:sp>
        <p:nvSpPr>
          <p:cNvPr id="14" name="Text 12"/>
          <p:cNvSpPr/>
          <p:nvPr/>
        </p:nvSpPr>
        <p:spPr>
          <a:xfrm>
            <a:off x="2811125" y="2628900"/>
            <a:ext cx="238720" cy="298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059537" y="3275528"/>
            <a:ext cx="2340888" cy="292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Ortak Input Boyutu</a:t>
            </a:r>
            <a:endParaRPr lang="en-US" altLang="en-US" sz="18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(224×224)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9180" y="4102735"/>
            <a:ext cx="3742055" cy="1950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Farkl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mimarilerin farkl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giri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beklentisi olabildi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 i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tüm modeller tek boyuta sabitlendi.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Ama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performans fark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“giri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öl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i” yerine “mimari özellikler” üzerinden okumak.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22319" y="2778085"/>
            <a:ext cx="4185642" cy="2404110"/>
          </a:xfrm>
          <a:prstGeom prst="roundRect">
            <a:avLst>
              <a:gd name="adj" fmla="val 4564"/>
            </a:avLst>
          </a:prstGeom>
          <a:solidFill>
            <a:srgbClr val="112836"/>
          </a:solidFill>
        </p:spPr>
      </p:sp>
      <p:sp>
        <p:nvSpPr>
          <p:cNvPr id="18" name="Shape 16"/>
          <p:cNvSpPr/>
          <p:nvPr/>
        </p:nvSpPr>
        <p:spPr>
          <a:xfrm>
            <a:off x="5222319" y="2755225"/>
            <a:ext cx="4185642" cy="91440"/>
          </a:xfrm>
          <a:prstGeom prst="roundRect">
            <a:avLst>
              <a:gd name="adj" fmla="val 32642"/>
            </a:avLst>
          </a:prstGeom>
          <a:solidFill>
            <a:srgbClr val="0A988B"/>
          </a:solidFill>
        </p:spPr>
      </p:sp>
      <p:sp>
        <p:nvSpPr>
          <p:cNvPr id="19" name="Shape 17"/>
          <p:cNvSpPr/>
          <p:nvPr/>
        </p:nvSpPr>
        <p:spPr>
          <a:xfrm>
            <a:off x="7016651" y="2479715"/>
            <a:ext cx="596860" cy="596860"/>
          </a:xfrm>
          <a:prstGeom prst="roundRect">
            <a:avLst>
              <a:gd name="adj" fmla="val 153202"/>
            </a:avLst>
          </a:prstGeom>
          <a:solidFill>
            <a:srgbClr val="0A988B"/>
          </a:solidFill>
        </p:spPr>
      </p:sp>
      <p:sp>
        <p:nvSpPr>
          <p:cNvPr id="20" name="Text 18"/>
          <p:cNvSpPr/>
          <p:nvPr/>
        </p:nvSpPr>
        <p:spPr>
          <a:xfrm>
            <a:off x="7195721" y="2628900"/>
            <a:ext cx="238720" cy="298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5444133" y="3275528"/>
            <a:ext cx="3734991" cy="292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Ortak Normalize ve </a:t>
            </a:r>
            <a:endParaRPr lang="en-US" altLang="en-US" sz="18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Veri Yükleme</a:t>
            </a:r>
            <a:endParaRPr lang="en-US" altLang="en-US" sz="18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43855" y="4102735"/>
            <a:ext cx="3742055" cy="19310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CIFAR-10 mean/std ile normalize edilerek tüm modeller ayn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da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mda girdi görür.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Bu, modelin e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öl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ek fark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 ba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dengesizlik ya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amas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azalt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606915" y="2778085"/>
            <a:ext cx="4185642" cy="2404110"/>
          </a:xfrm>
          <a:prstGeom prst="roundRect">
            <a:avLst>
              <a:gd name="adj" fmla="val 4564"/>
            </a:avLst>
          </a:prstGeom>
          <a:solidFill>
            <a:srgbClr val="112836"/>
          </a:solidFill>
        </p:spPr>
      </p:sp>
      <p:sp>
        <p:nvSpPr>
          <p:cNvPr id="24" name="Shape 22"/>
          <p:cNvSpPr/>
          <p:nvPr/>
        </p:nvSpPr>
        <p:spPr>
          <a:xfrm>
            <a:off x="9606915" y="2755225"/>
            <a:ext cx="4185642" cy="91440"/>
          </a:xfrm>
          <a:prstGeom prst="roundRect">
            <a:avLst>
              <a:gd name="adj" fmla="val 32642"/>
            </a:avLst>
          </a:prstGeom>
          <a:solidFill>
            <a:srgbClr val="0A988B"/>
          </a:solidFill>
        </p:spPr>
      </p:sp>
      <p:sp>
        <p:nvSpPr>
          <p:cNvPr id="25" name="Shape 23"/>
          <p:cNvSpPr/>
          <p:nvPr/>
        </p:nvSpPr>
        <p:spPr>
          <a:xfrm>
            <a:off x="11401246" y="2479715"/>
            <a:ext cx="596860" cy="596860"/>
          </a:xfrm>
          <a:prstGeom prst="roundRect">
            <a:avLst>
              <a:gd name="adj" fmla="val 153202"/>
            </a:avLst>
          </a:prstGeom>
          <a:solidFill>
            <a:srgbClr val="0A988B"/>
          </a:solidFill>
        </p:spPr>
      </p:sp>
      <p:sp>
        <p:nvSpPr>
          <p:cNvPr id="26" name="Text 24"/>
          <p:cNvSpPr/>
          <p:nvPr/>
        </p:nvSpPr>
        <p:spPr>
          <a:xfrm>
            <a:off x="11580316" y="2628900"/>
            <a:ext cx="238720" cy="298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9828728" y="3275528"/>
            <a:ext cx="2770346" cy="292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Ortak E</a:t>
            </a:r>
            <a:r>
              <a:rPr lang="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ğ</a:t>
            </a:r>
            <a:r>
              <a:rPr lang="en-US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itim Mant</a:t>
            </a:r>
            <a:r>
              <a:rPr lang="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ığı</a:t>
            </a:r>
            <a:r>
              <a:rPr lang="en-US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endParaRPr lang="en-US" altLang="en-US" sz="18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(Tek Pipeline)</a:t>
            </a:r>
            <a:endParaRPr lang="en-US" altLang="en-US" sz="18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828530" y="4102735"/>
            <a:ext cx="3742055" cy="1964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Ayn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optimizer ailesi, benzer e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döngüsü ve ayn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seed ile kar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 yap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 (seed=42).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Böylece deney ko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ullar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daha kontrollü hale getirilir.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587693"/>
            <a:ext cx="11084243" cy="5543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alt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</a:t>
            </a:r>
            <a:r>
              <a:rPr lang="" alt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</a:t>
            </a:r>
            <a:r>
              <a:rPr lang="en-US" alt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ARTIRMA (AUGMENTATION) ve </a:t>
            </a:r>
            <a:endParaRPr lang="en-US" altLang="en-US" sz="34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l">
              <a:lnSpc>
                <a:spcPts val="4350"/>
              </a:lnSpc>
              <a:buNone/>
            </a:pPr>
            <a:r>
              <a:rPr lang="en-US" alt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ABLATION (</a:t>
            </a:r>
            <a:r>
              <a:rPr lang="" alt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</a:t>
            </a:r>
            <a:r>
              <a:rPr lang="en-US" alt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ki kolon)</a:t>
            </a:r>
            <a:endParaRPr lang="en-US" altLang="en-US" sz="34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7724" y="2103120"/>
            <a:ext cx="4997053" cy="277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Veri Art</a:t>
            </a:r>
            <a:r>
              <a:rPr lang="" altLang="en-US" sz="1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rma ve Ön-</a:t>
            </a:r>
            <a:r>
              <a:rPr lang="" altLang="en-US" sz="1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İş</a:t>
            </a:r>
            <a:r>
              <a:rPr lang="en-US" altLang="en-US" sz="1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leme Teknikleri</a:t>
            </a:r>
            <a:endParaRPr lang="en-US" altLang="en-US" sz="17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129" y="2804914"/>
            <a:ext cx="4318278" cy="75402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7605" y="3747413"/>
            <a:ext cx="2902863" cy="277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</a:t>
            </a:r>
            <a:r>
              <a:rPr lang="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ğ</a:t>
            </a: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itim Seti Augmentation </a:t>
            </a:r>
            <a:endParaRPr lang="en-US" altLang="en-US" sz="17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l">
              <a:lnSpc>
                <a:spcPts val="2150"/>
              </a:lnSpc>
              <a:buNone/>
            </a:pP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(Aug ON)</a:t>
            </a:r>
            <a:endParaRPr lang="en-US" altLang="en-US" sz="17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37565" y="4387215"/>
            <a:ext cx="3941445" cy="29521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350"/>
              </a:lnSpc>
              <a:buFont typeface="Arial" panose="020B0604020202020204" pitchFamily="34" charset="0"/>
              <a:buChar char="•"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RandomResizedCrop (scale=0.8–1.0): nesnenin farkl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k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rp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m/öl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ek varyasyonlar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 kar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dayan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kl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350"/>
              </a:lnSpc>
              <a:buFont typeface="Arial" panose="020B0604020202020204" pitchFamily="34" charset="0"/>
              <a:buChar char="•"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HorizontalFlip: yatay simetri ile veri 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itlili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ini art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350"/>
              </a:lnSpc>
              <a:buFont typeface="Arial" panose="020B0604020202020204" pitchFamily="34" charset="0"/>
              <a:buChar char="•"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Normalize: ö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renmeyi stabilize etme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407" y="2804914"/>
            <a:ext cx="4318278" cy="7540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55883" y="3747413"/>
            <a:ext cx="2561749" cy="277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Aug OFF Senaryosu</a:t>
            </a:r>
            <a:endParaRPr lang="en-US" altLang="en-US" sz="17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156200" y="4387215"/>
            <a:ext cx="4128770" cy="1218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350"/>
              </a:lnSpc>
              <a:buFont typeface="Arial" panose="020B0604020202020204" pitchFamily="34" charset="0"/>
              <a:buChar char="•"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Sadece Resize(224×224) + Normalize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350"/>
              </a:lnSpc>
              <a:buFont typeface="Arial" panose="020B0604020202020204" pitchFamily="34" charset="0"/>
              <a:buChar char="•"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Ama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augmentation’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 katk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net görmek 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indent="0" algn="l">
              <a:lnSpc>
                <a:spcPts val="2350"/>
              </a:lnSpc>
              <a:buFont typeface="Arial" panose="020B0604020202020204" pitchFamily="34" charset="0"/>
              <a:buNone/>
            </a:pPr>
            <a:r>
              <a:rPr lang="tr-TR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   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(ablation)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684" y="2804914"/>
            <a:ext cx="4318278" cy="7540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74160" y="3747413"/>
            <a:ext cx="3941326" cy="5543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alt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 Projede Ablation Nerede?</a:t>
            </a:r>
            <a:endParaRPr lang="en-US" altLang="en-US" sz="17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474200" y="4386580"/>
            <a:ext cx="3941445" cy="579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350"/>
              </a:lnSpc>
              <a:buFont typeface="Arial" panose="020B0604020202020204" pitchFamily="34" charset="0"/>
              <a:buChar char="•"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ResNet-18 i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Aug ON ve Aug OFF iki farkl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endParaRPr lang="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indent="0" algn="l">
              <a:lnSpc>
                <a:spcPts val="2350"/>
              </a:lnSpc>
              <a:buFont typeface="Arial" panose="020B0604020202020204" pitchFamily="34" charset="0"/>
              <a:buNone/>
            </a:pPr>
            <a:r>
              <a:rPr lang="tr-TR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  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ko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ul 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ld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350"/>
              </a:lnSpc>
              <a:buFont typeface="Arial" panose="020B0604020202020204" pitchFamily="34" charset="0"/>
              <a:buChar char="•"/>
            </a:pP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Böylece “augmentation a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kken mi daha iyi 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indent="0" algn="l">
              <a:lnSpc>
                <a:spcPts val="2350"/>
              </a:lnSpc>
              <a:buFont typeface="Arial" panose="020B0604020202020204" pitchFamily="34" charset="0"/>
              <a:buNone/>
            </a:pPr>
            <a:r>
              <a:rPr lang="tr-TR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   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genelliyor?” sorusuna deneysel yan</a:t>
            </a:r>
            <a:r>
              <a:rPr lang="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 üretildi.</a:t>
            </a:r>
            <a:endParaRPr lang="en-US" altLang="en-US" sz="14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335439"/>
            <a:ext cx="5655469" cy="3718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Değerlendirilen Model Mimarileri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77875" y="913130"/>
            <a:ext cx="13074650" cy="5118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erlendirilen Model Mimarileri (Toplam 5 Model)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mada CNN tabanl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klasik/özelle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tirilmi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yap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lar ile modern mimariler kar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lm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954" y="1566982"/>
            <a:ext cx="1487329" cy="1858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alt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CNN Tabanl</a:t>
            </a:r>
            <a:r>
              <a:rPr lang="" alt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Modeller</a:t>
            </a:r>
            <a:endParaRPr lang="en-US" altLang="en-US" sz="11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954" y="1894999"/>
            <a:ext cx="6383060" cy="1576030"/>
          </a:xfrm>
          <a:prstGeom prst="roundRect">
            <a:avLst>
              <a:gd name="adj" fmla="val 1203"/>
            </a:avLst>
          </a:prstGeom>
          <a:solidFill>
            <a:srgbClr val="304755"/>
          </a:solidFill>
        </p:spPr>
      </p:sp>
      <p:sp>
        <p:nvSpPr>
          <p:cNvPr id="6" name="Text 4"/>
          <p:cNvSpPr/>
          <p:nvPr/>
        </p:nvSpPr>
        <p:spPr>
          <a:xfrm>
            <a:off x="904280" y="2021324"/>
            <a:ext cx="1487329" cy="1858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SimpleCNN (Baseline)</a:t>
            </a:r>
            <a:endParaRPr lang="en-US" altLang="en-US" sz="11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04240" y="2333625"/>
            <a:ext cx="6130290" cy="551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Az parametreli, h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zl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ö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renen basit bir referans model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AdaptiveAvgPool sayesinde giri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boyutuna ba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ms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 s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fland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 ba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ığı</a:t>
            </a:r>
            <a:endParaRPr lang="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7954" y="3597354"/>
            <a:ext cx="6383060" cy="1576030"/>
          </a:xfrm>
          <a:prstGeom prst="roundRect">
            <a:avLst>
              <a:gd name="adj" fmla="val 1203"/>
            </a:avLst>
          </a:prstGeom>
          <a:solidFill>
            <a:srgbClr val="304755"/>
          </a:solidFill>
        </p:spPr>
      </p:sp>
      <p:sp>
        <p:nvSpPr>
          <p:cNvPr id="12" name="Text 10"/>
          <p:cNvSpPr/>
          <p:nvPr/>
        </p:nvSpPr>
        <p:spPr>
          <a:xfrm>
            <a:off x="904280" y="3723680"/>
            <a:ext cx="1487329" cy="1858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CustomCNN (Geli</a:t>
            </a:r>
            <a:r>
              <a:rPr lang="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</a:t>
            </a:r>
            <a:r>
              <a:rPr lang="en-US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tirilmi</a:t>
            </a:r>
            <a:r>
              <a:rPr lang="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</a:t>
            </a:r>
            <a:r>
              <a:rPr lang="en-US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CNN)</a:t>
            </a:r>
            <a:endParaRPr lang="en-US" altLang="en-US" sz="11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04240" y="4036060"/>
            <a:ext cx="6130290" cy="816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BatchNorm + daha derin bloklar ile daha gü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lü temsil ö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renme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Baseline’a göre daha yüksek kapasite hedeflenir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7954" y="5299710"/>
            <a:ext cx="6383060" cy="1576030"/>
          </a:xfrm>
          <a:prstGeom prst="roundRect">
            <a:avLst>
              <a:gd name="adj" fmla="val 1203"/>
            </a:avLst>
          </a:prstGeom>
          <a:solidFill>
            <a:srgbClr val="304755"/>
          </a:solidFill>
        </p:spPr>
      </p:sp>
      <p:sp>
        <p:nvSpPr>
          <p:cNvPr id="18" name="Text 16"/>
          <p:cNvSpPr/>
          <p:nvPr/>
        </p:nvSpPr>
        <p:spPr>
          <a:xfrm>
            <a:off x="904280" y="5426035"/>
            <a:ext cx="1487329" cy="1858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ResNet-18 (Residual CNN)</a:t>
            </a:r>
            <a:endParaRPr lang="en-US" altLang="en-US" sz="11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4240" y="5738495"/>
            <a:ext cx="6130290" cy="841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Skip connection’lar ile daha stabil derin ö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renme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Genelde gü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lü bir genel ama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CNN omurgas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olarak bilinir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77006" y="1566982"/>
            <a:ext cx="1963936" cy="1858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alt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Transformer / Modern Mimari</a:t>
            </a:r>
            <a:endParaRPr lang="en-US" altLang="en-US" sz="11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77006" y="1894999"/>
            <a:ext cx="6383060" cy="1576030"/>
          </a:xfrm>
          <a:prstGeom prst="roundRect">
            <a:avLst>
              <a:gd name="adj" fmla="val 1203"/>
            </a:avLst>
          </a:prstGeom>
          <a:solidFill>
            <a:srgbClr val="304755"/>
          </a:solidFill>
        </p:spPr>
      </p:sp>
      <p:sp>
        <p:nvSpPr>
          <p:cNvPr id="25" name="Text 23"/>
          <p:cNvSpPr/>
          <p:nvPr/>
        </p:nvSpPr>
        <p:spPr>
          <a:xfrm>
            <a:off x="7603331" y="2021324"/>
            <a:ext cx="1487329" cy="1858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ViT-Tiny (Vision Transformer)</a:t>
            </a:r>
            <a:endParaRPr lang="en-US" altLang="en-US" sz="11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03331" y="2333506"/>
            <a:ext cx="6130409" cy="2022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Görüntüyü patch’lere bölüp attention ile temsil ö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renir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Kü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ük boyutlu transformer varyant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ile “transformer yakla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” test edilir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477006" y="3597354"/>
            <a:ext cx="6383060" cy="1576030"/>
          </a:xfrm>
          <a:prstGeom prst="roundRect">
            <a:avLst>
              <a:gd name="adj" fmla="val 1203"/>
            </a:avLst>
          </a:prstGeom>
          <a:solidFill>
            <a:srgbClr val="304755"/>
          </a:solidFill>
        </p:spPr>
      </p:sp>
      <p:sp>
        <p:nvSpPr>
          <p:cNvPr id="31" name="Text 29"/>
          <p:cNvSpPr/>
          <p:nvPr/>
        </p:nvSpPr>
        <p:spPr>
          <a:xfrm>
            <a:off x="7603331" y="3723680"/>
            <a:ext cx="2081093" cy="1858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ConvNeXt-Tiny (Modern CNN tasar</a:t>
            </a:r>
            <a:r>
              <a:rPr lang="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</a:t>
            </a:r>
            <a:r>
              <a:rPr lang="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)</a:t>
            </a:r>
            <a:endParaRPr lang="en-US" altLang="en-US" sz="11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603331" y="4035862"/>
            <a:ext cx="6130409" cy="2022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CNN dünyas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transformer-benzeri tasar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 prensipleri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Pratikte gü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lü genelleme ve modern mimari avantajlar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hedeflenir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77954" y="7160062"/>
            <a:ext cx="13074491" cy="536972"/>
          </a:xfrm>
          <a:prstGeom prst="roundRect">
            <a:avLst>
              <a:gd name="adj" fmla="val 3532"/>
            </a:avLst>
          </a:prstGeom>
          <a:solidFill>
            <a:srgbClr val="054842"/>
          </a:solidFill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280" y="7352109"/>
            <a:ext cx="157996" cy="126325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188601" y="7317938"/>
            <a:ext cx="12537519" cy="2022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Adil Kar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 Notu: Tüm modeller ayn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giri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boyutu, ayn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normalize ve ayn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seed ile 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lm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r>
              <a:rPr lang="en-US" altLang="en-US" sz="1200" dirty="0"/>
              <a:t> 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17696"/>
            <a:ext cx="9533573" cy="5851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Değerlendirme Metrikleri ve Önemi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37724" y="1600795"/>
            <a:ext cx="12954952" cy="3182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mada model ba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hem say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sal metriklerle hem de hata türlerini gösteren görsellerle de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erlendirilmi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724" y="2142887"/>
            <a:ext cx="497443" cy="49744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869" y="2142887"/>
            <a:ext cx="497443" cy="497443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0133" y="2142887"/>
            <a:ext cx="497443" cy="4974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7724" y="4684911"/>
            <a:ext cx="2340888" cy="292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Confusion Matrix (Kar</a:t>
            </a:r>
            <a:r>
              <a:rPr lang="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ışı</a:t>
            </a: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kl</a:t>
            </a:r>
            <a:r>
              <a:rPr lang="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 Matrisi)</a:t>
            </a:r>
            <a:endParaRPr lang="en-US" altLang="en-US" sz="18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37724" y="5176401"/>
            <a:ext cx="6234827" cy="6365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 bazl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hangi 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flar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 kar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ığı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gösterir.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“Neden 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 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flar kar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?” yorumlar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bu görsel üzerinden yap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565469" y="4684911"/>
            <a:ext cx="2340888" cy="292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Classification report</a:t>
            </a:r>
            <a:r>
              <a:rPr lang="tr-TR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(Terminal)</a:t>
            </a:r>
            <a:endParaRPr lang="tr-TR" altLang="en-US" sz="18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565469" y="5176401"/>
            <a:ext cx="6234827" cy="6365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Precision/Recall/F1 gibi 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 bazl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metrikleri verir (kodda eval 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üretilir).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Raporlama i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istenirse daha sonra dosyaya da kaydedilebilir.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136094" y="6751439"/>
            <a:ext cx="12656582" cy="6365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Vurgu</a:t>
            </a:r>
            <a:r>
              <a:rPr lang="tr-TR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projede en kritik kar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 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kt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tek protokol alt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test accuracy 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ralamas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+ confusion matrix yorumudur.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837724" y="6527602"/>
            <a:ext cx="22860" cy="1084183"/>
          </a:xfrm>
          <a:prstGeom prst="rect">
            <a:avLst/>
          </a:prstGeom>
          <a:solidFill>
            <a:srgbClr val="0A988B"/>
          </a:solidFill>
        </p:spPr>
      </p:sp>
      <p:sp>
        <p:nvSpPr>
          <p:cNvPr id="19" name="Text 8"/>
          <p:cNvSpPr/>
          <p:nvPr/>
        </p:nvSpPr>
        <p:spPr>
          <a:xfrm>
            <a:off x="838359" y="2424946"/>
            <a:ext cx="2340888" cy="292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Accuracy (Do</a:t>
            </a:r>
            <a:r>
              <a:rPr lang="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ğ</a:t>
            </a: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ruluk)</a:t>
            </a:r>
            <a:endParaRPr lang="en-US" altLang="en-US" sz="18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838359" y="2916436"/>
            <a:ext cx="6234827" cy="6365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Toplam tahminler i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inde do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 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fland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lan örnek oran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CIFAR-10 dengeli 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 yap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 sahip oldu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undan temel metrik olarak anlaml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</a:t>
            </a:r>
            <a:r>
              <a:rPr lang="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7566104" y="2424946"/>
            <a:ext cx="2340888" cy="292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 Accuracy</a:t>
            </a:r>
            <a:endParaRPr lang="en-US" altLang="en-US" sz="18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7566104" y="2916436"/>
            <a:ext cx="6234827" cy="6365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Test: nihai raporlanan performans</a:t>
            </a:r>
            <a:endParaRPr lang="en-US" altLang="en-US" sz="15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588526"/>
            <a:ext cx="9711214" cy="4620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altLang="en-US" sz="2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METRICS SUMMARY TABLOSU</a:t>
            </a:r>
            <a:endParaRPr lang="en-US" altLang="en-US" sz="29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graphicFrame>
        <p:nvGraphicFramePr>
          <p:cNvPr id="44" name="Table 43"/>
          <p:cNvGraphicFramePr/>
          <p:nvPr>
            <p:custDataLst>
              <p:tags r:id="rId1"/>
            </p:custDataLst>
          </p:nvPr>
        </p:nvGraphicFramePr>
        <p:xfrm>
          <a:off x="957580" y="1664335"/>
          <a:ext cx="11669395" cy="318706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816100"/>
                <a:gridCol w="777240"/>
                <a:gridCol w="1296670"/>
                <a:gridCol w="1296670"/>
                <a:gridCol w="1296035"/>
                <a:gridCol w="1296670"/>
                <a:gridCol w="1296670"/>
                <a:gridCol w="1296670"/>
                <a:gridCol w="1296670"/>
              </a:tblGrid>
              <a:tr h="455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model 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aug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acc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prec 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rec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f1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auc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img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tr-TR" altLang="en-US"/>
                        <a:t>seed</a:t>
                      </a:r>
                      <a:endParaRPr lang="tr-TR" altLang="en-US"/>
                    </a:p>
                  </a:txBody>
                  <a:tcPr anchor="ctr" anchorCtr="0"/>
                </a:tc>
              </a:tr>
              <a:tr h="455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resnet18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on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1"/>
                        <a:t>0.7683 </a:t>
                      </a:r>
                      <a:r>
                        <a:rPr lang="en-US" altLang="en-US"/>
                        <a:t>  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0.7791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0.7683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0.7658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0.9747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224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tr-TR" altLang="en-US"/>
                        <a:t>42</a:t>
                      </a:r>
                      <a:endParaRPr lang="tr-TR" altLang="en-US"/>
                    </a:p>
                  </a:txBody>
                  <a:tcPr anchor="ctr" anchorCtr="0"/>
                </a:tc>
              </a:tr>
              <a:tr h="455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resnet18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o</a:t>
                      </a:r>
                      <a:r>
                        <a:rPr lang="tr-TR" altLang="en-US"/>
                        <a:t>ff</a:t>
                      </a:r>
                      <a:endParaRPr lang="tr-TR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1"/>
                        <a:t>0.7661   </a:t>
                      </a:r>
                      <a:endParaRPr lang="en-US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0.7884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0.7661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0.7680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0.9753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224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tr-TR" altLang="en-US" sz="1800">
                          <a:sym typeface="+mn-ea"/>
                        </a:rPr>
                        <a:t>42</a:t>
                      </a:r>
                      <a:endParaRPr lang="en-US"/>
                    </a:p>
                  </a:txBody>
                  <a:tcPr anchor="ctr" anchorCtr="0"/>
                </a:tc>
              </a:tr>
              <a:tr h="455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convnext_tiny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on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1"/>
                        <a:t>0.6282   </a:t>
                      </a:r>
                      <a:endParaRPr lang="en-US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0.6436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0.6282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0.6200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0.9387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224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tr-TR" altLang="en-US" sz="1800">
                          <a:sym typeface="+mn-ea"/>
                        </a:rPr>
                        <a:t>42</a:t>
                      </a:r>
                      <a:endParaRPr lang="en-US"/>
                    </a:p>
                  </a:txBody>
                  <a:tcPr anchor="ctr" anchorCtr="0"/>
                </a:tc>
              </a:tr>
              <a:tr h="455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customcnn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on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0.5496   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0.5936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0.5496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0.5422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0.9126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22</a:t>
                      </a:r>
                      <a:r>
                        <a:rPr lang="tr-TR" altLang="en-US" sz="1800">
                          <a:sym typeface="+mn-ea"/>
                        </a:rPr>
                        <a:t>4</a:t>
                      </a:r>
                      <a:endParaRPr lang="tr-TR" altLang="en-US" sz="18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tr-TR" altLang="en-US" sz="1800">
                          <a:sym typeface="+mn-ea"/>
                        </a:rPr>
                        <a:t>42</a:t>
                      </a:r>
                      <a:endParaRPr lang="tr-TR" altLang="en-US" sz="1800">
                        <a:sym typeface="+mn-ea"/>
                      </a:endParaRPr>
                    </a:p>
                  </a:txBody>
                  <a:tcPr anchor="ctr" anchorCtr="0"/>
                </a:tc>
              </a:tr>
              <a:tr h="455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vit_tiny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on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0.4750   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0.5060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0.4750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0.4602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0.8867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224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tr-TR" altLang="en-US" sz="1800">
                          <a:sym typeface="+mn-ea"/>
                        </a:rPr>
                        <a:t>42</a:t>
                      </a:r>
                      <a:endParaRPr lang="en-US"/>
                    </a:p>
                  </a:txBody>
                  <a:tcPr anchor="ctr" anchorCtr="0"/>
                </a:tc>
              </a:tr>
              <a:tr h="455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simplecnn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on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0.4353   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0.4425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0.4353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0.4172   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0.8625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224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tr-TR" altLang="en-US" sz="1800">
                          <a:sym typeface="+mn-ea"/>
                        </a:rPr>
                        <a:t>42</a:t>
                      </a:r>
                      <a:endParaRPr lang="en-US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5" name="Text 20"/>
          <p:cNvSpPr/>
          <p:nvPr/>
        </p:nvSpPr>
        <p:spPr>
          <a:xfrm>
            <a:off x="957739" y="5613837"/>
            <a:ext cx="4158496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Detayl</a:t>
            </a:r>
            <a:r>
              <a:rPr lang="" alt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S</a:t>
            </a:r>
            <a:r>
              <a:rPr lang="" alt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ralama Yorumu</a:t>
            </a:r>
            <a:endParaRPr lang="en-US" altLang="en-US" sz="19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957739" y="6235938"/>
            <a:ext cx="12954952" cy="670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deney ko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ullar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ResNet-18, hem augmentation a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kken hem kapal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yken en yüksek do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rulu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 elde ederek a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 ara lider görünmektedir. Bu durum, residual ba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lant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lar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 (skip connection) e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stabilitesini art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rmas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ve kü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ük veri setlerinde gü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lü genelleme sa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layabilmesi ile uyumludur. ConvNeXt-Tiny modern bir mimari olmas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 ra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men k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 e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süresi (epochs=3) ve CIFAR-10’un 32×32’den 224×224’e büyütülmesi gibi etmenler alt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ResNet kadar iyi yak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nsamam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olabilir. ViT-Tiny’nin daha dü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ük do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rulu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 ise transformer mimarilerinin genellikle daha uzun e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ve/veya daha büyük veri ihtiyac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 sahip olabilmesiyle a</a:t>
            </a:r>
            <a:r>
              <a:rPr lang="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çı</a:t>
            </a:r>
            <a:r>
              <a:rPr lang="en-US" alt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klanabilir.</a:t>
            </a:r>
            <a:endParaRPr lang="en-US" alt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588526"/>
            <a:ext cx="9711214" cy="4620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altLang="en-US" sz="2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GENEL SONU</a:t>
            </a:r>
            <a:r>
              <a:rPr lang="" altLang="en-US" sz="2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Ç</a:t>
            </a:r>
            <a:r>
              <a:rPr lang="en-US" altLang="en-US" sz="2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ÖZET</a:t>
            </a:r>
            <a:r>
              <a:rPr lang="" altLang="en-US" sz="2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</a:t>
            </a:r>
            <a:endParaRPr lang="" altLang="en-US" sz="29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37724" y="1364694"/>
            <a:ext cx="12954952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 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İ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yi Modeller ve S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ralama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94694" y="1886942"/>
            <a:ext cx="3091458" cy="518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altLang="en-US" sz="4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0.7683</a:t>
            </a:r>
            <a:endParaRPr lang="en-US" altLang="en-US" sz="40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616319" y="2601555"/>
            <a:ext cx="1848088" cy="230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ResNet-18 (Aug ON)</a:t>
            </a:r>
            <a:endParaRPr lang="en-US" altLang="en-US" sz="14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94694" y="2926715"/>
            <a:ext cx="3091458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 Accuracy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82486" y="1886942"/>
            <a:ext cx="3091458" cy="518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altLang="en-US" sz="4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0.7661</a:t>
            </a:r>
            <a:endParaRPr lang="en-US" altLang="en-US" sz="40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04111" y="2601555"/>
            <a:ext cx="1848088" cy="230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ResNet-18 (Aug OFF)</a:t>
            </a:r>
            <a:endParaRPr lang="en-US" altLang="en-US" sz="14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82486" y="2926715"/>
            <a:ext cx="3091458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 Accuracy (Ablation)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10069" y="1857097"/>
            <a:ext cx="3091577" cy="518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altLang="en-US" sz="4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0.6282</a:t>
            </a:r>
            <a:endParaRPr lang="en-US" altLang="en-US" sz="40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431814" y="2571710"/>
            <a:ext cx="1848088" cy="230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ConvNeXt-Tiny (Aug ON)</a:t>
            </a:r>
            <a:endParaRPr lang="en-US" altLang="en-US" sz="14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10069" y="2896870"/>
            <a:ext cx="309157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 Accuracy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7724" y="3397687"/>
            <a:ext cx="3249454" cy="230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Detaylı Metrik Karşılaştırması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45344" y="4231958"/>
            <a:ext cx="12954952" cy="2744152"/>
          </a:xfrm>
          <a:prstGeom prst="roundRect">
            <a:avLst>
              <a:gd name="adj" fmla="val 85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2964" y="4239578"/>
            <a:ext cx="12939713" cy="4548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1010007" y="4341376"/>
            <a:ext cx="4857988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ResNet-18 Aug ON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1950"/>
              </a:lnSpc>
              <a:buNone/>
            </a:pPr>
            <a:endParaRPr lang="tr-TR" sz="12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89702" y="4341376"/>
            <a:ext cx="356020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0.7683</a:t>
            </a:r>
            <a:endParaRPr lang="en-US" altLang="en-US" sz="12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071616" y="4341376"/>
            <a:ext cx="356401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 iyi genel performans</a:t>
            </a:r>
            <a:endParaRPr lang="en-US" altLang="en-US" sz="12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52964" y="4694396"/>
            <a:ext cx="12939713" cy="4548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1010007" y="4796195"/>
            <a:ext cx="4857988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ResNet-18 Aug OFF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89702" y="4796195"/>
            <a:ext cx="356020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0.7661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071616" y="4796195"/>
            <a:ext cx="356401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Aug katk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ı</a:t>
            </a: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s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ı</a:t>
            </a: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 bu ko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ş</a:t>
            </a: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ulda s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ı</a:t>
            </a: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n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ı</a:t>
            </a: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rl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ı</a:t>
            </a:r>
            <a:endParaRPr lang="" altLang="en-US" sz="12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  <a:sym typeface="+mn-ea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52964" y="5149215"/>
            <a:ext cx="12939713" cy="4548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1010007" y="5251013"/>
            <a:ext cx="4857988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ConvNeXt-Tiny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89702" y="5251013"/>
            <a:ext cx="356020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0.6282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071616" y="5251013"/>
            <a:ext cx="356401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Modern CNN, daha fazla e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ğ</a:t>
            </a: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itimle artabilir</a:t>
            </a:r>
            <a:endParaRPr lang="en-US" altLang="en-US" sz="12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  <a:sym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52964" y="5604034"/>
            <a:ext cx="12939713" cy="4548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1010007" y="5705832"/>
            <a:ext cx="4857988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CustomCNN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89702" y="5705832"/>
            <a:ext cx="356020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0.5496</a:t>
            </a:r>
            <a:endParaRPr lang="en-US" altLang="en-US" sz="12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  <a:sym typeface="+mn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071616" y="5705832"/>
            <a:ext cx="356401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Baseline üstü, ama s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ı</a:t>
            </a: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n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ı</a:t>
            </a: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rl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ı</a:t>
            </a: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 genelleme</a:t>
            </a:r>
            <a:endParaRPr lang="en-US" altLang="en-US" sz="12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  <a:sym typeface="+mn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52964" y="6058853"/>
            <a:ext cx="12939713" cy="4548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1010007" y="6160651"/>
            <a:ext cx="4857988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ViT-Tiny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89702" y="6160651"/>
            <a:ext cx="356020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0.4750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071616" y="6160651"/>
            <a:ext cx="356401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Daha fazla epoch/veri ile iyile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ş</a:t>
            </a: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ebilir</a:t>
            </a:r>
            <a:endParaRPr lang="en-US" altLang="en-US" sz="12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  <a:sym typeface="+mn-ea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52964" y="6513671"/>
            <a:ext cx="12939713" cy="4548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1010007" y="6615470"/>
            <a:ext cx="4857988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SimpleCNN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89702" y="6615470"/>
            <a:ext cx="356020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0.4353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071616" y="6615470"/>
            <a:ext cx="356401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Baseline; kapasite s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ı</a:t>
            </a: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n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ı</a:t>
            </a:r>
            <a:r>
              <a:rPr lang="en-US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rl</a:t>
            </a:r>
            <a:r>
              <a:rPr lang="" alt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ı</a:t>
            </a:r>
            <a:endParaRPr lang="" altLang="en-US" sz="12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  <a:sym typeface="+mn-ea"/>
            </a:endParaRPr>
          </a:p>
        </p:txBody>
      </p:sp>
      <p:sp>
        <p:nvSpPr>
          <p:cNvPr id="51" name="Shape 36"/>
          <p:cNvSpPr/>
          <p:nvPr/>
        </p:nvSpPr>
        <p:spPr>
          <a:xfrm>
            <a:off x="852805" y="3785235"/>
            <a:ext cx="12940030" cy="454660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52" name="Text 37"/>
          <p:cNvSpPr/>
          <p:nvPr/>
        </p:nvSpPr>
        <p:spPr>
          <a:xfrm>
            <a:off x="994767" y="3879255"/>
            <a:ext cx="4857988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200" b="1" dirty="0">
                <a:solidFill>
                  <a:srgbClr val="FFBC8F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Model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53" name="Text 38"/>
          <p:cNvSpPr/>
          <p:nvPr/>
        </p:nvSpPr>
        <p:spPr>
          <a:xfrm>
            <a:off x="6189702" y="3879255"/>
            <a:ext cx="356020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tr-TR" altLang="en-US" sz="1200" b="1" dirty="0">
                <a:solidFill>
                  <a:srgbClr val="FFBC8F"/>
                </a:solidFill>
                <a:latin typeface="Cabin" pitchFamily="34" charset="0"/>
                <a:ea typeface="Cabin" pitchFamily="34" charset="-122"/>
                <a:cs typeface="Cabin" pitchFamily="34" charset="-120"/>
                <a:sym typeface="+mn-ea"/>
              </a:rPr>
              <a:t> Acc</a:t>
            </a:r>
            <a:endParaRPr lang="en-US" sz="1200" dirty="0"/>
          </a:p>
        </p:txBody>
      </p:sp>
      <p:sp>
        <p:nvSpPr>
          <p:cNvPr id="54" name="Text 39"/>
          <p:cNvSpPr/>
          <p:nvPr/>
        </p:nvSpPr>
        <p:spPr>
          <a:xfrm>
            <a:off x="10071616" y="3879255"/>
            <a:ext cx="3564017" cy="2512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tr-TR" altLang="en-US" sz="1200" b="1" dirty="0">
                <a:solidFill>
                  <a:srgbClr val="FFBC8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Kısa Yorum</a:t>
            </a:r>
            <a:endParaRPr lang="tr-TR" altLang="en-US" sz="1200" b="1" dirty="0">
              <a:solidFill>
                <a:srgbClr val="FFBC8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618" y="515303"/>
            <a:ext cx="9993154" cy="3581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alt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ABLATION: RESNET-18 AUG ON vs OFF</a:t>
            </a:r>
            <a:endParaRPr lang="en-US" altLang="en-US" sz="22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9618" y="1117044"/>
            <a:ext cx="13131165" cy="1947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alt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Ablation Analizi: Data Augmentation (ResNet-18)</a:t>
            </a:r>
            <a:endParaRPr lang="en-US" altLang="en-US" sz="9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219" y="4767263"/>
            <a:ext cx="1827133" cy="1827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6731" y="6746558"/>
            <a:ext cx="1642229" cy="1791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tr-TR" alt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</a:t>
            </a:r>
            <a:r>
              <a:rPr lang="en-US" alt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ResNet-18 (Aug ON)</a:t>
            </a:r>
            <a:endParaRPr lang="en-US" altLang="en-US" sz="11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52" name="Shape 47"/>
          <p:cNvSpPr/>
          <p:nvPr/>
        </p:nvSpPr>
        <p:spPr>
          <a:xfrm>
            <a:off x="5010785" y="2352040"/>
            <a:ext cx="8408670" cy="3956050"/>
          </a:xfrm>
          <a:prstGeom prst="roundRect">
            <a:avLst>
              <a:gd name="adj" fmla="val 2257"/>
            </a:avLst>
          </a:prstGeom>
          <a:solidFill>
            <a:srgbClr val="054842"/>
          </a:solidFill>
        </p:spPr>
      </p:sp>
      <p:sp>
        <p:nvSpPr>
          <p:cNvPr id="54" name="Text 48"/>
          <p:cNvSpPr/>
          <p:nvPr/>
        </p:nvSpPr>
        <p:spPr>
          <a:xfrm>
            <a:off x="5597525" y="2705100"/>
            <a:ext cx="7722235" cy="3602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altLang="en-US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Yorum</a:t>
            </a:r>
            <a:r>
              <a:rPr lang="tr-TR" altLang="en-US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</a:t>
            </a:r>
            <a:endParaRPr lang="tr-TR" altLang="en-US" b="1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 altLang="en-US" b="1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Ablation sonucu, bu deney ko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ullar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augmentation’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 ResNet-18 i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do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rulu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 yaln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zca marjinal düzeyde art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rd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ığı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göstermektedir.</a:t>
            </a:r>
            <a:endParaRPr lang="en-US" altLang="en-US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Bunun birka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olas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klamas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vard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r:  </a:t>
            </a:r>
            <a:endParaRPr lang="en-US" altLang="en-US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342900" indent="-342900" algn="l">
              <a:lnSpc>
                <a:spcPts val="1900"/>
              </a:lnSpc>
              <a:buFont typeface="Arial" panose="020B0604020202020204" pitchFamily="34" charset="0"/>
              <a:buAutoNum type="arabicPeriod"/>
            </a:pP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süresi 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ok k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 oldu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 i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(epochs=3) augmentation’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 genelleme katk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tam ortaya 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kmam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olabilir; </a:t>
            </a:r>
            <a:endParaRPr lang="en-US" altLang="en-US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342900" indent="-342900" algn="l">
              <a:lnSpc>
                <a:spcPts val="1900"/>
              </a:lnSpc>
              <a:buFont typeface="Arial" panose="020B0604020202020204" pitchFamily="34" charset="0"/>
              <a:buAutoNum type="arabicPeriod"/>
            </a:pP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CIFAR-10’un zaten dengeli ve s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 say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dü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ük bir veri seti olmas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augmentation ihtiyac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rlam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olabilir; </a:t>
            </a:r>
            <a:endParaRPr lang="en-US" altLang="en-US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342900" indent="-342900" algn="l">
              <a:lnSpc>
                <a:spcPts val="1900"/>
              </a:lnSpc>
              <a:buFont typeface="Arial" panose="020B0604020202020204" pitchFamily="34" charset="0"/>
              <a:buAutoNum type="arabicPeriod"/>
            </a:pP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kullan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lan augmentation seti (RandomResizedCrop + HorizontalFlip) nispeten hafif oldu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undan etkisi kü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ük kalm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olabilir. </a:t>
            </a:r>
            <a:endParaRPr lang="en-US" altLang="en-US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Buna ra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men Aug ON senaryosu daha iyi oldu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 i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in, daha uzun e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itimde fark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 büyüme olas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ığı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vard</a:t>
            </a:r>
            <a:r>
              <a:rPr lang="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">
            <a:off x="1376759" y="4767898"/>
            <a:ext cx="1827133" cy="1827133"/>
          </a:xfrm>
          <a:prstGeom prst="rect">
            <a:avLst/>
          </a:prstGeom>
        </p:spPr>
      </p:pic>
      <p:pic>
        <p:nvPicPr>
          <p:cNvPr id="5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219" y="2054543"/>
            <a:ext cx="1827133" cy="1827133"/>
          </a:xfrm>
          <a:prstGeom prst="rect">
            <a:avLst/>
          </a:prstGeom>
        </p:spPr>
      </p:pic>
      <p:sp>
        <p:nvSpPr>
          <p:cNvPr id="58" name="Text 6"/>
          <p:cNvSpPr/>
          <p:nvPr/>
        </p:nvSpPr>
        <p:spPr>
          <a:xfrm>
            <a:off x="1466731" y="4033838"/>
            <a:ext cx="1642229" cy="1791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tr-TR" alt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</a:t>
            </a:r>
            <a:r>
              <a:rPr lang="en-US" alt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ResNet-18 (Aug OFF)</a:t>
            </a:r>
            <a:endParaRPr lang="en-US" altLang="en-US" sz="11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pic>
        <p:nvPicPr>
          <p:cNvPr id="6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">
            <a:off x="1374854" y="2054543"/>
            <a:ext cx="1827133" cy="1827133"/>
          </a:xfrm>
          <a:prstGeom prst="rect">
            <a:avLst/>
          </a:prstGeom>
        </p:spPr>
      </p:pic>
      <p:sp>
        <p:nvSpPr>
          <p:cNvPr id="61" name="Text 6"/>
          <p:cNvSpPr/>
          <p:nvPr/>
        </p:nvSpPr>
        <p:spPr>
          <a:xfrm>
            <a:off x="1466731" y="2941003"/>
            <a:ext cx="1642229" cy="1791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altLang="en-US" sz="2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0.7661</a:t>
            </a:r>
            <a:endParaRPr lang="en-US" altLang="en-US" sz="2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62" name="Text 6"/>
          <p:cNvSpPr/>
          <p:nvPr/>
        </p:nvSpPr>
        <p:spPr>
          <a:xfrm>
            <a:off x="1466731" y="5637213"/>
            <a:ext cx="1642229" cy="1791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altLang="en-US" sz="2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0.76</a:t>
            </a:r>
            <a:r>
              <a:rPr lang="tr-TR" altLang="en-US" sz="2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83</a:t>
            </a:r>
            <a:endParaRPr lang="tr-TR" altLang="en-US" sz="2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565" y="847725"/>
            <a:ext cx="11696065" cy="431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CNN vs Transformer/Modern: Kar</a:t>
            </a:r>
            <a:r>
              <a:rPr lang="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şı</a:t>
            </a:r>
            <a:r>
              <a:rPr lang="en-US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</a:t>
            </a:r>
            <a:r>
              <a:rPr lang="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</a:t>
            </a:r>
            <a:r>
              <a:rPr lang="en-US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</a:t>
            </a:r>
            <a:r>
              <a:rPr lang="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rmal</a:t>
            </a:r>
            <a:r>
              <a:rPr lang="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Analiz</a:t>
            </a:r>
            <a:endParaRPr lang="en-US" altLang="en-US" sz="27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83615" y="2076450"/>
            <a:ext cx="3822065" cy="310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 </a:t>
            </a:r>
            <a:r>
              <a:rPr lang="" alt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</a:t>
            </a:r>
            <a:r>
              <a:rPr lang="en-US" alt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yi Performans: CNN Taraf</a:t>
            </a:r>
            <a:r>
              <a:rPr lang="" alt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endParaRPr lang="" altLang="en-US" sz="13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75995" y="2543175"/>
            <a:ext cx="6298565" cy="2604135"/>
          </a:xfrm>
          <a:prstGeom prst="roundRect">
            <a:avLst>
              <a:gd name="adj" fmla="val 17626"/>
            </a:avLst>
          </a:prstGeom>
          <a:solidFill>
            <a:srgbClr val="304755"/>
          </a:solidFill>
        </p:spPr>
      </p:sp>
      <p:sp>
        <p:nvSpPr>
          <p:cNvPr id="6" name="Text 4"/>
          <p:cNvSpPr/>
          <p:nvPr/>
        </p:nvSpPr>
        <p:spPr>
          <a:xfrm>
            <a:off x="1634490" y="3055620"/>
            <a:ext cx="1835150" cy="384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ResNet-18 (0.7683 test acc)</a:t>
            </a:r>
            <a:endParaRPr lang="en-US" altLang="en-US" sz="13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34490" y="3418205"/>
            <a:ext cx="6005830" cy="13931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Residual ba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lant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lar sayesinde h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zl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ve stabil yak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nsama</a:t>
            </a:r>
            <a:endParaRPr lang="en-US" altLang="en-US" sz="16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 e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itimde bile gü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lü performans</a:t>
            </a:r>
            <a:endParaRPr lang="en-US" altLang="en-US" sz="16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CIFAR-10 gibi klasik benchmark’ta güvenilir bir referans</a:t>
            </a:r>
            <a:endParaRPr lang="tr-TR" alt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47940" y="2076450"/>
            <a:ext cx="3016885" cy="310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Transformer/Modern Taraf</a:t>
            </a:r>
            <a:r>
              <a:rPr lang="" alt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endParaRPr lang="" altLang="en-US" sz="13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40320" y="2543175"/>
            <a:ext cx="6298565" cy="2618105"/>
          </a:xfrm>
          <a:prstGeom prst="roundRect">
            <a:avLst>
              <a:gd name="adj" fmla="val 17693"/>
            </a:avLst>
          </a:prstGeom>
          <a:solidFill>
            <a:srgbClr val="304755"/>
          </a:solidFill>
        </p:spPr>
      </p:sp>
      <p:sp>
        <p:nvSpPr>
          <p:cNvPr id="13" name="Text 11"/>
          <p:cNvSpPr/>
          <p:nvPr/>
        </p:nvSpPr>
        <p:spPr>
          <a:xfrm>
            <a:off x="8298180" y="3055620"/>
            <a:ext cx="1724660" cy="384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ConvNeXt-Tiny (0.6282) ve ViT-Tiny (0.4750)</a:t>
            </a:r>
            <a:endParaRPr lang="en-US" altLang="en-US" sz="135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1057632" y="6577608"/>
            <a:ext cx="12735044" cy="4688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tr-TR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kar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</a:t>
            </a:r>
            <a:r>
              <a:rPr lang="tr-TR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deneyde “en iyi mimari” sonucu, yaln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 mimari de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il; e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süresi, veri boyutu, augmentation ve optimizasyon dinamiklerinin birlikte etkisidir.</a:t>
            </a:r>
            <a:r>
              <a:rPr lang="tr-TR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</a:t>
            </a:r>
            <a:endParaRPr lang="tr-TR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837724" y="6412706"/>
            <a:ext cx="15240" cy="798671"/>
          </a:xfrm>
          <a:prstGeom prst="rect">
            <a:avLst/>
          </a:prstGeom>
          <a:solidFill>
            <a:srgbClr val="0A988B"/>
          </a:solidFill>
        </p:spPr>
      </p:sp>
      <p:sp>
        <p:nvSpPr>
          <p:cNvPr id="30" name="Text 5"/>
          <p:cNvSpPr/>
          <p:nvPr/>
        </p:nvSpPr>
        <p:spPr>
          <a:xfrm>
            <a:off x="8298180" y="3419475"/>
            <a:ext cx="6005830" cy="19411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ko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ullarda ResNet’in gerisinde kalm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6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Olas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neden: Transformer’lar genelde daha uzun e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ve </a:t>
            </a:r>
            <a:endParaRPr lang="en-US" altLang="en-US" sz="16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indent="0" algn="l">
              <a:lnSpc>
                <a:spcPts val="1800"/>
              </a:lnSpc>
              <a:buFont typeface="Arial" panose="020B0604020202020204" pitchFamily="34" charset="0"/>
              <a:buNone/>
            </a:pPr>
            <a:r>
              <a:rPr lang="tr-TR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  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daha büyük veriyle daha iyi a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çı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6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ConvNeXt, modern tasar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 ra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men k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 e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itimde ResNet </a:t>
            </a:r>
            <a:endParaRPr lang="en-US" altLang="en-US" sz="1600" b="1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indent="0" algn="l">
              <a:lnSpc>
                <a:spcPts val="1800"/>
              </a:lnSpc>
              <a:buFont typeface="Arial" panose="020B0604020202020204" pitchFamily="34" charset="0"/>
              <a:buNone/>
            </a:pPr>
            <a:r>
              <a:rPr lang="tr-TR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   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kadar iyi optimize olamam</a:t>
            </a:r>
            <a:r>
              <a:rPr lang="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olabilir.</a:t>
            </a:r>
            <a:r>
              <a:rPr lang="tr-TR" alt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</a:t>
            </a:r>
            <a:endParaRPr lang="tr-TR" alt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2450" y="622935"/>
            <a:ext cx="4474210" cy="523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alt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CONFUSION MATRIX OKUMASI</a:t>
            </a:r>
            <a:endParaRPr lang="en-US" altLang="en-US" sz="32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1"/>
            </p:custDataLst>
          </p:nvPr>
        </p:nvSpPr>
        <p:spPr>
          <a:xfrm>
            <a:off x="837565" y="1544320"/>
            <a:ext cx="7468870" cy="1903095"/>
          </a:xfrm>
          <a:prstGeom prst="roundRect">
            <a:avLst>
              <a:gd name="adj" fmla="val 2531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2"/>
            </p:custDataLst>
          </p:nvPr>
        </p:nvSpPr>
        <p:spPr>
          <a:xfrm>
            <a:off x="1015722" y="1767999"/>
            <a:ext cx="2566154" cy="261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Confusion Matrix </a:t>
            </a:r>
            <a:r>
              <a:rPr lang="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Ü</a:t>
            </a: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zerinden Hata Analizi (S</a:t>
            </a:r>
            <a:r>
              <a:rPr lang="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</a:t>
            </a:r>
            <a:r>
              <a:rPr lang="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 Bazl</a:t>
            </a:r>
            <a:r>
              <a:rPr lang="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)</a:t>
            </a:r>
            <a:endParaRPr lang="en-US" altLang="en-US" sz="16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3"/>
            </p:custDataLst>
          </p:nvPr>
        </p:nvSpPr>
        <p:spPr>
          <a:xfrm>
            <a:off x="1038860" y="2179955"/>
            <a:ext cx="7267575" cy="943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slaytta her modelin confusion matrix görseli üzerinden s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 kar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malar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 nedeni 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indent="0" algn="l">
              <a:lnSpc>
                <a:spcPts val="2200"/>
              </a:lnSpc>
              <a:buFont typeface="Arial" panose="020B0604020202020204" pitchFamily="34" charset="0"/>
              <a:buNone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yorumlan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 CIFAR-10 s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flar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baz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iftler görsel olarak birbirine yak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 ve benzer 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indent="0" algn="l">
              <a:lnSpc>
                <a:spcPts val="2200"/>
              </a:lnSpc>
              <a:buFont typeface="Arial" panose="020B0604020202020204" pitchFamily="34" charset="0"/>
              <a:buNone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arka plan/poz varyasyonlar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kar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may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art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4"/>
            </p:custDataLst>
          </p:nvPr>
        </p:nvSpPr>
        <p:spPr>
          <a:xfrm>
            <a:off x="837565" y="3612515"/>
            <a:ext cx="7468870" cy="2216150"/>
          </a:xfrm>
          <a:prstGeom prst="roundRect">
            <a:avLst>
              <a:gd name="adj" fmla="val 2531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5"/>
            </p:custDataLst>
          </p:nvPr>
        </p:nvSpPr>
        <p:spPr>
          <a:xfrm>
            <a:off x="1038860" y="3752215"/>
            <a:ext cx="2787650" cy="3200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Tipik kar</a:t>
            </a:r>
            <a:r>
              <a:rPr lang="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ış</a:t>
            </a: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 s</a:t>
            </a:r>
            <a:r>
              <a:rPr lang="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</a:t>
            </a:r>
            <a:r>
              <a:rPr lang="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flar (sunum diliyle uzun yorum)</a:t>
            </a:r>
            <a:endParaRPr lang="en-US" altLang="en-US" sz="16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1038860" y="4215130"/>
            <a:ext cx="7066915" cy="1464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tr-TR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cat ↔ dog: Doku ve poz benzerli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i, kü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ük 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özünürlükte ay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rt edici detaylar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 kaybolmas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deer ↔ horse: Benzer silüet ve do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 arka planlar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automobile ↔ truck: Ta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 s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flar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perspektif ve öl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ek fark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ship ↔ airplane: Baz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görüntülerde arka plan (gökyüzü/deniz) ve dü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ük 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özünürlük etkisi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37565" y="6165215"/>
            <a:ext cx="7468870" cy="1442085"/>
          </a:xfrm>
          <a:prstGeom prst="roundRect">
            <a:avLst>
              <a:gd name="adj" fmla="val 2565"/>
            </a:avLst>
          </a:prstGeom>
          <a:solidFill>
            <a:srgbClr val="054842"/>
          </a:solidFill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97" y="6496248"/>
            <a:ext cx="222528" cy="17799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94023" y="6446361"/>
            <a:ext cx="6712029" cy="5695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tr-TR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ritik </a:t>
            </a:r>
            <a:r>
              <a:rPr lang="tr-TR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okta:</a:t>
            </a:r>
            <a:r>
              <a:rPr lang="tr-TR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Giri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boyutu 224×224 olsa bile bilgi kayna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ğı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32×32’den geldi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 i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baz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ince ayr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mlar geri getirilemez. Bu nedenle confusion matrix, modelin hangi görsel ipu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lar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yakalayabildi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ini dolayl</a:t>
            </a:r>
            <a:r>
              <a:rPr lang="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olarak gösterir.</a:t>
            </a:r>
            <a:endParaRPr lang="en-US" altLang="en-US" sz="1400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4" name="Picture 3"/>
          <p:cNvPicPr/>
          <p:nvPr/>
        </p:nvPicPr>
        <p:blipFill>
          <a:blip r:embed="rId8"/>
          <a:stretch>
            <a:fillRect/>
          </a:stretch>
        </p:blipFill>
        <p:spPr>
          <a:xfrm>
            <a:off x="8675370" y="0"/>
            <a:ext cx="5955030" cy="8222615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9"/>
          <a:stretch>
            <a:fillRect/>
          </a:stretch>
        </p:blipFill>
        <p:spPr>
          <a:xfrm>
            <a:off x="8674735" y="65405"/>
            <a:ext cx="5955665" cy="81641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35318"/>
            <a:ext cx="10344269" cy="4926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alt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Tart</a:t>
            </a:r>
            <a:r>
              <a:rPr lang="" alt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ış</a:t>
            </a:r>
            <a:r>
              <a:rPr lang="en-US" alt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ma: Sonu</a:t>
            </a:r>
            <a:r>
              <a:rPr lang="" alt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ç</a:t>
            </a:r>
            <a:r>
              <a:rPr lang="en-US" alt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lar Neden Bu </a:t>
            </a:r>
            <a:r>
              <a:rPr lang="" alt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</a:t>
            </a:r>
            <a:r>
              <a:rPr lang="en-US" alt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ekilde?</a:t>
            </a:r>
            <a:endParaRPr lang="en-US" altLang="en-US" sz="31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534" y="1725216"/>
            <a:ext cx="2027515" cy="2464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Açıklamalar</a:t>
            </a:r>
            <a:endParaRPr lang="en-US" sz="155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841534" y="2263555"/>
            <a:ext cx="368651" cy="368651"/>
          </a:xfrm>
          <a:prstGeom prst="roundRect">
            <a:avLst>
              <a:gd name="adj" fmla="val 6668"/>
            </a:avLst>
          </a:prstGeom>
          <a:solidFill>
            <a:srgbClr val="304755"/>
          </a:solidFill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910234" y="2303319"/>
            <a:ext cx="231251" cy="2891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374017" y="2319795"/>
            <a:ext cx="3554117" cy="48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</a:t>
            </a:r>
            <a:r>
              <a:rPr lang="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 E</a:t>
            </a:r>
            <a:r>
              <a:rPr lang="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ğ</a:t>
            </a:r>
            <a:r>
              <a:rPr lang="en-US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itim (epochs=3) </a:t>
            </a:r>
            <a:endParaRPr lang="en-US" altLang="en-US" sz="20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Etkisi</a:t>
            </a:r>
            <a:endParaRPr lang="en-US" altLang="en-US" sz="20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374140" y="3300095"/>
            <a:ext cx="3554095" cy="21151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 epoch, özellikle transformer/modern mimariler i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yetersiz olabilir.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ResNet gibi “optimizasyonu kolay” mimariler k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 e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itimde avantajl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5132952" y="2263555"/>
            <a:ext cx="368651" cy="368651"/>
          </a:xfrm>
          <a:prstGeom prst="roundRect">
            <a:avLst>
              <a:gd name="adj" fmla="val 6668"/>
            </a:avLst>
          </a:prstGeom>
          <a:solidFill>
            <a:srgbClr val="304755"/>
          </a:solidFill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5201652" y="2303319"/>
            <a:ext cx="231251" cy="2891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5665435" y="2319795"/>
            <a:ext cx="2973544" cy="2410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CIFAR-10’un Dü</a:t>
            </a:r>
            <a:r>
              <a:rPr lang="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ş</a:t>
            </a:r>
            <a:r>
              <a:rPr lang="en-US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ük </a:t>
            </a:r>
            <a:endParaRPr lang="en-US" altLang="en-US" sz="20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Ç</a:t>
            </a:r>
            <a:r>
              <a:rPr lang="en-US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özünürlü</a:t>
            </a:r>
            <a:r>
              <a:rPr lang="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ğ</a:t>
            </a:r>
            <a:r>
              <a:rPr lang="en-US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ü ve </a:t>
            </a:r>
            <a:endParaRPr lang="en-US" altLang="en-US" sz="20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Resize</a:t>
            </a:r>
            <a:endParaRPr lang="en-US" altLang="en-US" sz="20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5665470" y="3329940"/>
            <a:ext cx="3554095" cy="1974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32×32 → 224×224 standardizasyon adil kar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 sa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lar, ancak bilgi eklemez.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Baz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flar aras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ndaki ince farklar orijinal 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özünürlükte zaten s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9424487" y="2263555"/>
            <a:ext cx="368651" cy="368651"/>
          </a:xfrm>
          <a:prstGeom prst="roundRect">
            <a:avLst>
              <a:gd name="adj" fmla="val 6668"/>
            </a:avLst>
          </a:prstGeom>
          <a:solidFill>
            <a:srgbClr val="304755"/>
          </a:solidFill>
        </p:spPr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9493187" y="2303319"/>
            <a:ext cx="231251" cy="2891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9957280" y="2319562"/>
            <a:ext cx="3553457" cy="31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Kapasitesi ve </a:t>
            </a:r>
            <a:endParaRPr lang="en-US" altLang="en-US" sz="20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</a:t>
            </a:r>
            <a:r>
              <a:rPr lang="en-US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ndüktif Önyarg</a:t>
            </a:r>
            <a:r>
              <a:rPr lang="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endParaRPr lang="" altLang="en-US" sz="20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tr-TR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alt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(Inductive Bias)</a:t>
            </a:r>
            <a:endParaRPr lang="en-US" altLang="en-US" sz="20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9956800" y="3329940"/>
            <a:ext cx="3554095" cy="2051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CNN’ler lokal örüntüleri (kenar/doku) yakalamada gü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lü do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 önyarg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ya sahiptir.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ViT gibi attention tabanl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yap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lar, yeterli veri/e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olmadan bu avantaj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k</a:t>
            </a:r>
            <a:r>
              <a:rPr lang="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 sürede yakalayamayabilir.</a:t>
            </a:r>
            <a:endParaRPr lang="en-US" alt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837724" y="6614517"/>
            <a:ext cx="12954952" cy="979765"/>
          </a:xfrm>
          <a:prstGeom prst="roundRect">
            <a:avLst>
              <a:gd name="adj" fmla="val 2565"/>
            </a:avLst>
          </a:prstGeom>
          <a:solidFill>
            <a:srgbClr val="054842"/>
          </a:solidFill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245" y="6867644"/>
            <a:ext cx="209431" cy="16752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382395" y="6823710"/>
            <a:ext cx="12242800" cy="770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ma, “nihai en iyi skor” yar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ışı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ndan 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ok, ayn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protokol alt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mimari fark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görünür k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lan kar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rmal</a:t>
            </a:r>
            <a:r>
              <a:rPr lang="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6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analiz üretmeyi hedefler.</a:t>
            </a:r>
            <a:endParaRPr lang="en-US" altLang="en-US" sz="1600" b="1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04" y="521732"/>
            <a:ext cx="4632127" cy="3626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Sonuçlar ve Ana Çıkarımlar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58904" y="1466969"/>
            <a:ext cx="6494621" cy="1389459"/>
          </a:xfrm>
          <a:prstGeom prst="roundRect">
            <a:avLst>
              <a:gd name="adj" fmla="val 1331"/>
            </a:avLst>
          </a:prstGeom>
          <a:solidFill>
            <a:srgbClr val="304755"/>
          </a:solidFill>
        </p:spPr>
      </p:sp>
      <p:sp>
        <p:nvSpPr>
          <p:cNvPr id="5" name="Shape 3"/>
          <p:cNvSpPr/>
          <p:nvPr/>
        </p:nvSpPr>
        <p:spPr>
          <a:xfrm>
            <a:off x="882134" y="1590199"/>
            <a:ext cx="369927" cy="369927"/>
          </a:xfrm>
          <a:prstGeom prst="roundRect">
            <a:avLst>
              <a:gd name="adj" fmla="val 24715919"/>
            </a:avLst>
          </a:prstGeom>
          <a:solidFill>
            <a:srgbClr val="0A988B"/>
          </a:solidFill>
        </p:spPr>
      </p:sp>
      <p:sp>
        <p:nvSpPr>
          <p:cNvPr id="7" name="Text 4"/>
          <p:cNvSpPr/>
          <p:nvPr/>
        </p:nvSpPr>
        <p:spPr>
          <a:xfrm>
            <a:off x="1435854" y="1691561"/>
            <a:ext cx="2237661" cy="1813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 </a:t>
            </a:r>
            <a:r>
              <a:rPr lang="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İ</a:t>
            </a: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yi Model: ResNet-18</a:t>
            </a:r>
            <a:endParaRPr lang="en-US" altLang="en-US" sz="1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82015" y="2226945"/>
            <a:ext cx="6248400" cy="5060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 accuracy: 0.7683 (Aug ON)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 e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itimde bile en iyi yak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nsama ve genelleme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76755" y="1466969"/>
            <a:ext cx="6494740" cy="1389459"/>
          </a:xfrm>
          <a:prstGeom prst="roundRect">
            <a:avLst>
              <a:gd name="adj" fmla="val 1331"/>
            </a:avLst>
          </a:prstGeom>
          <a:solidFill>
            <a:srgbClr val="304755"/>
          </a:solidFill>
        </p:spPr>
      </p:sp>
      <p:sp>
        <p:nvSpPr>
          <p:cNvPr id="10" name="Shape 7"/>
          <p:cNvSpPr/>
          <p:nvPr/>
        </p:nvSpPr>
        <p:spPr>
          <a:xfrm>
            <a:off x="7499985" y="1590199"/>
            <a:ext cx="369927" cy="369927"/>
          </a:xfrm>
          <a:prstGeom prst="roundRect">
            <a:avLst>
              <a:gd name="adj" fmla="val 24715919"/>
            </a:avLst>
          </a:prstGeom>
          <a:solidFill>
            <a:srgbClr val="0A988B"/>
          </a:solidFill>
        </p:spPr>
      </p:sp>
      <p:sp>
        <p:nvSpPr>
          <p:cNvPr id="12" name="Text 8"/>
          <p:cNvSpPr/>
          <p:nvPr/>
        </p:nvSpPr>
        <p:spPr>
          <a:xfrm>
            <a:off x="8011160" y="1690926"/>
            <a:ext cx="2459950" cy="1813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Augmentation Ablation (ResNet-18)</a:t>
            </a:r>
            <a:endParaRPr lang="en-US" altLang="en-US" sz="1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499985" y="2226866"/>
            <a:ext cx="6248281" cy="3945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Aug ON vs OFF fark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kü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ük (0.7683 vs 0.7661)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Daha uzun e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itimde/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itli augmentation ile fark büyüyebilir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58904" y="2979658"/>
            <a:ext cx="6494621" cy="1389459"/>
          </a:xfrm>
          <a:prstGeom prst="roundRect">
            <a:avLst>
              <a:gd name="adj" fmla="val 1331"/>
            </a:avLst>
          </a:prstGeom>
          <a:solidFill>
            <a:srgbClr val="304755"/>
          </a:solidFill>
        </p:spPr>
      </p:sp>
      <p:sp>
        <p:nvSpPr>
          <p:cNvPr id="15" name="Shape 11"/>
          <p:cNvSpPr/>
          <p:nvPr/>
        </p:nvSpPr>
        <p:spPr>
          <a:xfrm>
            <a:off x="882134" y="3102888"/>
            <a:ext cx="369927" cy="369927"/>
          </a:xfrm>
          <a:prstGeom prst="roundRect">
            <a:avLst>
              <a:gd name="adj" fmla="val 24715919"/>
            </a:avLst>
          </a:prstGeom>
          <a:solidFill>
            <a:srgbClr val="0A988B"/>
          </a:solidFill>
        </p:spPr>
      </p:sp>
      <p:sp>
        <p:nvSpPr>
          <p:cNvPr id="17" name="Text 12"/>
          <p:cNvSpPr/>
          <p:nvPr/>
        </p:nvSpPr>
        <p:spPr>
          <a:xfrm>
            <a:off x="1435854" y="3219490"/>
            <a:ext cx="2517458" cy="1813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Modern Mimari: ConvNeXt-Tiny Orta Seviye</a:t>
            </a:r>
            <a:endParaRPr lang="en-US" altLang="en-US" sz="1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71220" y="3719830"/>
            <a:ext cx="6248400" cy="3949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 accuracy: 0.6282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Potansiyel olarak daha fazla epoch, lr schedule ve/veya pretrained ile art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beklenebilir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376755" y="2979658"/>
            <a:ext cx="6494740" cy="1389459"/>
          </a:xfrm>
          <a:prstGeom prst="roundRect">
            <a:avLst>
              <a:gd name="adj" fmla="val 1331"/>
            </a:avLst>
          </a:prstGeom>
          <a:solidFill>
            <a:srgbClr val="304755"/>
          </a:solidFill>
        </p:spPr>
      </p:sp>
      <p:sp>
        <p:nvSpPr>
          <p:cNvPr id="20" name="Shape 15"/>
          <p:cNvSpPr/>
          <p:nvPr/>
        </p:nvSpPr>
        <p:spPr>
          <a:xfrm>
            <a:off x="7499985" y="3102888"/>
            <a:ext cx="369927" cy="369927"/>
          </a:xfrm>
          <a:prstGeom prst="roundRect">
            <a:avLst>
              <a:gd name="adj" fmla="val 24715919"/>
            </a:avLst>
          </a:prstGeom>
          <a:solidFill>
            <a:srgbClr val="0A988B"/>
          </a:solidFill>
        </p:spPr>
      </p:sp>
      <p:sp>
        <p:nvSpPr>
          <p:cNvPr id="22" name="Text 16"/>
          <p:cNvSpPr/>
          <p:nvPr/>
        </p:nvSpPr>
        <p:spPr>
          <a:xfrm>
            <a:off x="8011160" y="3219490"/>
            <a:ext cx="2303621" cy="1813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ViT-Tiny ve Baseline’lar</a:t>
            </a:r>
            <a:endParaRPr lang="en-US" altLang="en-US" sz="1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491095" y="3720505"/>
            <a:ext cx="6248281" cy="3945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ViT-Tiny: 0.4750, SimpleCNN: 0.4353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ko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ullarda transformer yakla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belirgin avantaj göstermemi</a:t>
            </a:r>
            <a:r>
              <a:rPr lang="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tir</a:t>
            </a:r>
            <a:endParaRPr lang="en-US" altLang="en-US" sz="12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58904" y="4802307"/>
            <a:ext cx="2367677" cy="1813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Karşılaştırması Özeti</a:t>
            </a:r>
            <a:endParaRPr lang="en-US" sz="1600" dirty="0"/>
          </a:p>
        </p:txBody>
      </p:sp>
      <p:sp>
        <p:nvSpPr>
          <p:cNvPr id="52" name="Text 12"/>
          <p:cNvSpPr/>
          <p:nvPr/>
        </p:nvSpPr>
        <p:spPr>
          <a:xfrm>
            <a:off x="1008380" y="1691640"/>
            <a:ext cx="243840" cy="136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tr-TR" alt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tr-TR" altLang="en-US" sz="11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53" name="Text 12"/>
          <p:cNvSpPr/>
          <p:nvPr/>
        </p:nvSpPr>
        <p:spPr>
          <a:xfrm>
            <a:off x="7626350" y="1691640"/>
            <a:ext cx="243840" cy="136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tr-TR" alt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tr-TR" altLang="en-US" sz="11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1008380" y="3219450"/>
            <a:ext cx="243840" cy="136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tr-TR" alt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tr-TR" altLang="en-US" sz="11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7626350" y="3219450"/>
            <a:ext cx="243840" cy="136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tr-TR" alt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tr-TR" altLang="en-US" sz="11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59" y="5378887"/>
            <a:ext cx="4318278" cy="586383"/>
          </a:xfrm>
          <a:prstGeom prst="rect">
            <a:avLst/>
          </a:prstGeom>
        </p:spPr>
      </p:pic>
      <p:sp>
        <p:nvSpPr>
          <p:cNvPr id="57" name="Text 16"/>
          <p:cNvSpPr/>
          <p:nvPr/>
        </p:nvSpPr>
        <p:spPr>
          <a:xfrm>
            <a:off x="845185" y="6111875"/>
            <a:ext cx="1904365" cy="4171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 güvenilir se</a:t>
            </a:r>
            <a:r>
              <a:rPr lang="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</a:t>
            </a:r>
            <a:endParaRPr lang="en-US" altLang="en-US" sz="1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58" name="Text 17"/>
          <p:cNvSpPr/>
          <p:nvPr/>
        </p:nvSpPr>
        <p:spPr>
          <a:xfrm>
            <a:off x="845185" y="6415405"/>
            <a:ext cx="4025265" cy="906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 e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 + CIFAR-10’da ResNet-18 en gü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lü profil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5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937" y="5378887"/>
            <a:ext cx="4318278" cy="586383"/>
          </a:xfrm>
          <a:prstGeom prst="rect">
            <a:avLst/>
          </a:prstGeom>
        </p:spPr>
      </p:pic>
      <p:sp>
        <p:nvSpPr>
          <p:cNvPr id="60" name="Text 18"/>
          <p:cNvSpPr/>
          <p:nvPr/>
        </p:nvSpPr>
        <p:spPr>
          <a:xfrm>
            <a:off x="5163820" y="6111875"/>
            <a:ext cx="1755140" cy="4171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Aug etkisi</a:t>
            </a:r>
            <a:endParaRPr lang="en-US" altLang="en-US" sz="1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61" name="Text 19"/>
          <p:cNvSpPr/>
          <p:nvPr/>
        </p:nvSpPr>
        <p:spPr>
          <a:xfrm>
            <a:off x="5163820" y="6415405"/>
            <a:ext cx="4025265" cy="906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 protokolde s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rl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; daha uzun e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itimde yeniden test edilmeli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6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214" y="5378887"/>
            <a:ext cx="4318278" cy="586383"/>
          </a:xfrm>
          <a:prstGeom prst="rect">
            <a:avLst/>
          </a:prstGeom>
        </p:spPr>
      </p:pic>
      <p:sp>
        <p:nvSpPr>
          <p:cNvPr id="63" name="Text 20"/>
          <p:cNvSpPr/>
          <p:nvPr/>
        </p:nvSpPr>
        <p:spPr>
          <a:xfrm>
            <a:off x="9481820" y="6111875"/>
            <a:ext cx="1724660" cy="4171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Modern mimariler</a:t>
            </a:r>
            <a:endParaRPr lang="en-US" altLang="en-US" sz="1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9481820" y="6415405"/>
            <a:ext cx="4025265" cy="453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ConvNeXt umut verici, ViT daha fazla veri/epoch ister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90694"/>
            <a:ext cx="6198394" cy="4312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Gelecek </a:t>
            </a:r>
            <a:r>
              <a:rPr lang="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Ç</a:t>
            </a:r>
            <a:r>
              <a:rPr lang="en-US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</a:t>
            </a:r>
            <a:r>
              <a:rPr lang="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ış</a:t>
            </a:r>
            <a:r>
              <a:rPr lang="en-US" alt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malar ve Öneriler</a:t>
            </a:r>
            <a:endParaRPr lang="en-US" altLang="en-US" sz="270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289074" y="2153999"/>
            <a:ext cx="4220528" cy="1769507"/>
          </a:xfrm>
          <a:prstGeom prst="roundRect">
            <a:avLst>
              <a:gd name="adj" fmla="val 4134"/>
            </a:avLst>
          </a:prstGeom>
          <a:solidFill>
            <a:srgbClr val="112836"/>
          </a:solidFill>
        </p:spPr>
      </p:sp>
      <p:sp>
        <p:nvSpPr>
          <p:cNvPr id="16" name="Shape 14"/>
          <p:cNvSpPr/>
          <p:nvPr>
            <p:custDataLst>
              <p:tags r:id="rId2"/>
            </p:custDataLst>
          </p:nvPr>
        </p:nvSpPr>
        <p:spPr>
          <a:xfrm>
            <a:off x="9343430" y="2039699"/>
            <a:ext cx="4220647" cy="1769507"/>
          </a:xfrm>
          <a:prstGeom prst="roundRect">
            <a:avLst>
              <a:gd name="adj" fmla="val 4134"/>
            </a:avLst>
          </a:prstGeom>
          <a:solidFill>
            <a:srgbClr val="112836"/>
          </a:solidFill>
        </p:spPr>
      </p:sp>
      <p:sp>
        <p:nvSpPr>
          <p:cNvPr id="22" name="Shape 20"/>
          <p:cNvSpPr/>
          <p:nvPr>
            <p:custDataLst>
              <p:tags r:id="rId3"/>
            </p:custDataLst>
          </p:nvPr>
        </p:nvSpPr>
        <p:spPr>
          <a:xfrm>
            <a:off x="838359" y="3379391"/>
            <a:ext cx="12954952" cy="1066205"/>
          </a:xfrm>
          <a:prstGeom prst="roundRect">
            <a:avLst>
              <a:gd name="adj" fmla="val 6861"/>
            </a:avLst>
          </a:prstGeom>
          <a:solidFill>
            <a:srgbClr val="112836"/>
          </a:solidFill>
        </p:spPr>
      </p:sp>
      <p:sp>
        <p:nvSpPr>
          <p:cNvPr id="23" name="Shape 21"/>
          <p:cNvSpPr/>
          <p:nvPr>
            <p:custDataLst>
              <p:tags r:id="rId4"/>
            </p:custDataLst>
          </p:nvPr>
        </p:nvSpPr>
        <p:spPr>
          <a:xfrm>
            <a:off x="838359" y="3364151"/>
            <a:ext cx="12954952" cy="60960"/>
          </a:xfrm>
          <a:prstGeom prst="roundRect">
            <a:avLst>
              <a:gd name="adj" fmla="val 36078"/>
            </a:avLst>
          </a:prstGeom>
          <a:solidFill>
            <a:srgbClr val="0A988B"/>
          </a:solidFill>
        </p:spPr>
      </p:sp>
      <p:sp>
        <p:nvSpPr>
          <p:cNvPr id="24" name="Shape 22"/>
          <p:cNvSpPr/>
          <p:nvPr>
            <p:custDataLst>
              <p:tags r:id="rId5"/>
            </p:custDataLst>
          </p:nvPr>
        </p:nvSpPr>
        <p:spPr>
          <a:xfrm>
            <a:off x="7095927" y="3159482"/>
            <a:ext cx="439817" cy="439817"/>
          </a:xfrm>
          <a:prstGeom prst="roundRect">
            <a:avLst>
              <a:gd name="adj" fmla="val 207905"/>
            </a:avLst>
          </a:prstGeom>
          <a:solidFill>
            <a:srgbClr val="0A988B"/>
          </a:solidFill>
        </p:spPr>
      </p:sp>
      <p:sp>
        <p:nvSpPr>
          <p:cNvPr id="25" name="Text 23"/>
          <p:cNvSpPr/>
          <p:nvPr>
            <p:custDataLst>
              <p:tags r:id="rId6"/>
            </p:custDataLst>
          </p:nvPr>
        </p:nvSpPr>
        <p:spPr>
          <a:xfrm>
            <a:off x="7227848" y="3269377"/>
            <a:ext cx="175855" cy="219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tr-TR" alt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tr-TR" altLang="en-US" sz="13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26" name="Text 24"/>
          <p:cNvSpPr/>
          <p:nvPr>
            <p:custDataLst>
              <p:tags r:id="rId7"/>
            </p:custDataLst>
          </p:nvPr>
        </p:nvSpPr>
        <p:spPr>
          <a:xfrm>
            <a:off x="1807885" y="4121150"/>
            <a:ext cx="3056930" cy="2156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oklu seed ile stabilite analizi</a:t>
            </a:r>
            <a:endParaRPr lang="en-US" altLang="en-US" sz="1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27" name="Text 25"/>
          <p:cNvSpPr/>
          <p:nvPr>
            <p:custDataLst>
              <p:tags r:id="rId8"/>
            </p:custDataLst>
          </p:nvPr>
        </p:nvSpPr>
        <p:spPr>
          <a:xfrm>
            <a:off x="8056880" y="3970020"/>
            <a:ext cx="4785360" cy="495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seed=42 tek ko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ul yerine 3–5 farkl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seed ile ortalama ± std raporu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“model ger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ekten daha iyi mi, yoksa 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ans m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?” sorusuna daha gü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lü yan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39" name="Shape 20"/>
          <p:cNvSpPr/>
          <p:nvPr>
            <p:custDataLst>
              <p:tags r:id="rId9"/>
            </p:custDataLst>
          </p:nvPr>
        </p:nvSpPr>
        <p:spPr>
          <a:xfrm>
            <a:off x="964724" y="1673146"/>
            <a:ext cx="12954952" cy="1066205"/>
          </a:xfrm>
          <a:prstGeom prst="roundRect">
            <a:avLst>
              <a:gd name="adj" fmla="val 6861"/>
            </a:avLst>
          </a:prstGeom>
          <a:solidFill>
            <a:srgbClr val="112836"/>
          </a:solidFill>
        </p:spPr>
      </p:sp>
      <p:sp>
        <p:nvSpPr>
          <p:cNvPr id="40" name="Shape 21"/>
          <p:cNvSpPr/>
          <p:nvPr>
            <p:custDataLst>
              <p:tags r:id="rId10"/>
            </p:custDataLst>
          </p:nvPr>
        </p:nvSpPr>
        <p:spPr>
          <a:xfrm>
            <a:off x="964724" y="1657906"/>
            <a:ext cx="12954952" cy="60960"/>
          </a:xfrm>
          <a:prstGeom prst="roundRect">
            <a:avLst>
              <a:gd name="adj" fmla="val 36078"/>
            </a:avLst>
          </a:prstGeom>
          <a:solidFill>
            <a:srgbClr val="0A988B"/>
          </a:solidFill>
        </p:spPr>
      </p:sp>
      <p:sp>
        <p:nvSpPr>
          <p:cNvPr id="41" name="Shape 22"/>
          <p:cNvSpPr/>
          <p:nvPr>
            <p:custDataLst>
              <p:tags r:id="rId11"/>
            </p:custDataLst>
          </p:nvPr>
        </p:nvSpPr>
        <p:spPr>
          <a:xfrm>
            <a:off x="7222292" y="1453237"/>
            <a:ext cx="439817" cy="439817"/>
          </a:xfrm>
          <a:prstGeom prst="roundRect">
            <a:avLst>
              <a:gd name="adj" fmla="val 207905"/>
            </a:avLst>
          </a:prstGeom>
          <a:solidFill>
            <a:srgbClr val="0A988B"/>
          </a:solidFill>
        </p:spPr>
      </p:sp>
      <p:sp>
        <p:nvSpPr>
          <p:cNvPr id="42" name="Text 23"/>
          <p:cNvSpPr/>
          <p:nvPr>
            <p:custDataLst>
              <p:tags r:id="rId12"/>
            </p:custDataLst>
          </p:nvPr>
        </p:nvSpPr>
        <p:spPr>
          <a:xfrm>
            <a:off x="7354213" y="1563132"/>
            <a:ext cx="175855" cy="219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tr-TR" alt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tr-TR" altLang="en-US" sz="13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43" name="Text 24"/>
          <p:cNvSpPr/>
          <p:nvPr>
            <p:custDataLst>
              <p:tags r:id="rId13"/>
            </p:custDataLst>
          </p:nvPr>
        </p:nvSpPr>
        <p:spPr>
          <a:xfrm>
            <a:off x="1807885" y="2388235"/>
            <a:ext cx="3056930" cy="2156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Epoch art</a:t>
            </a:r>
            <a:r>
              <a:rPr lang="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</a:t>
            </a:r>
            <a:r>
              <a:rPr lang="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</a:t>
            </a:r>
            <a:r>
              <a:rPr lang="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ve LR schedule</a:t>
            </a:r>
            <a:endParaRPr lang="en-US" altLang="en-US" sz="1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44" name="Text 25"/>
          <p:cNvSpPr/>
          <p:nvPr>
            <p:custDataLst>
              <p:tags r:id="rId14"/>
            </p:custDataLst>
          </p:nvPr>
        </p:nvSpPr>
        <p:spPr>
          <a:xfrm>
            <a:off x="8056880" y="2248535"/>
            <a:ext cx="4554220" cy="600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 epoch yerine 20–50 epoch aral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ığı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nda e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itim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Cosine annealing / step decay gibi schedule ile daha iyi yak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nsama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51" name="Shape 20"/>
          <p:cNvSpPr/>
          <p:nvPr>
            <p:custDataLst>
              <p:tags r:id="rId15"/>
            </p:custDataLst>
          </p:nvPr>
        </p:nvSpPr>
        <p:spPr>
          <a:xfrm>
            <a:off x="838994" y="4991021"/>
            <a:ext cx="12954952" cy="1066205"/>
          </a:xfrm>
          <a:prstGeom prst="roundRect">
            <a:avLst>
              <a:gd name="adj" fmla="val 6861"/>
            </a:avLst>
          </a:prstGeom>
          <a:solidFill>
            <a:srgbClr val="112836"/>
          </a:solidFill>
        </p:spPr>
      </p:sp>
      <p:sp>
        <p:nvSpPr>
          <p:cNvPr id="52" name="Shape 21"/>
          <p:cNvSpPr/>
          <p:nvPr>
            <p:custDataLst>
              <p:tags r:id="rId16"/>
            </p:custDataLst>
          </p:nvPr>
        </p:nvSpPr>
        <p:spPr>
          <a:xfrm>
            <a:off x="838994" y="4975781"/>
            <a:ext cx="12954952" cy="60960"/>
          </a:xfrm>
          <a:prstGeom prst="roundRect">
            <a:avLst>
              <a:gd name="adj" fmla="val 36078"/>
            </a:avLst>
          </a:prstGeom>
          <a:solidFill>
            <a:srgbClr val="0A988B"/>
          </a:solidFill>
        </p:spPr>
      </p:sp>
      <p:sp>
        <p:nvSpPr>
          <p:cNvPr id="53" name="Shape 22"/>
          <p:cNvSpPr/>
          <p:nvPr>
            <p:custDataLst>
              <p:tags r:id="rId17"/>
            </p:custDataLst>
          </p:nvPr>
        </p:nvSpPr>
        <p:spPr>
          <a:xfrm>
            <a:off x="7096562" y="4771112"/>
            <a:ext cx="439817" cy="439817"/>
          </a:xfrm>
          <a:prstGeom prst="roundRect">
            <a:avLst>
              <a:gd name="adj" fmla="val 207905"/>
            </a:avLst>
          </a:prstGeom>
          <a:solidFill>
            <a:srgbClr val="0A988B"/>
          </a:solidFill>
        </p:spPr>
      </p:sp>
      <p:sp>
        <p:nvSpPr>
          <p:cNvPr id="54" name="Text 23"/>
          <p:cNvSpPr/>
          <p:nvPr>
            <p:custDataLst>
              <p:tags r:id="rId18"/>
            </p:custDataLst>
          </p:nvPr>
        </p:nvSpPr>
        <p:spPr>
          <a:xfrm>
            <a:off x="7228483" y="4881007"/>
            <a:ext cx="175855" cy="219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tr-TR" alt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tr-TR" altLang="en-US" sz="1350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55" name="Text 24"/>
          <p:cNvSpPr/>
          <p:nvPr>
            <p:custDataLst>
              <p:tags r:id="rId19"/>
            </p:custDataLst>
          </p:nvPr>
        </p:nvSpPr>
        <p:spPr>
          <a:xfrm>
            <a:off x="1807885" y="5683250"/>
            <a:ext cx="3056930" cy="2156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Pretrained a</a:t>
            </a:r>
            <a:r>
              <a:rPr lang="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ğı</a:t>
            </a: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rl</a:t>
            </a:r>
            <a:r>
              <a:rPr lang="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ı</a:t>
            </a: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klarla transfer learning</a:t>
            </a:r>
            <a:r>
              <a:rPr lang="tr-TR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x</a:t>
            </a:r>
            <a:endParaRPr lang="tr-TR" sz="1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56" name="Text 25"/>
          <p:cNvSpPr/>
          <p:nvPr>
            <p:custDataLst>
              <p:tags r:id="rId20"/>
            </p:custDataLst>
          </p:nvPr>
        </p:nvSpPr>
        <p:spPr>
          <a:xfrm>
            <a:off x="8056880" y="5473065"/>
            <a:ext cx="4459605" cy="579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Özellikle ViT/ConvNeXt gibi mimariler i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pretrained ba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ş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latma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Kü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ük veri setinde genelleme art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ışı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beklenir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57" name="Shape 20"/>
          <p:cNvSpPr/>
          <p:nvPr>
            <p:custDataLst>
              <p:tags r:id="rId21"/>
            </p:custDataLst>
          </p:nvPr>
        </p:nvSpPr>
        <p:spPr>
          <a:xfrm>
            <a:off x="803434" y="6603286"/>
            <a:ext cx="12954952" cy="1066205"/>
          </a:xfrm>
          <a:prstGeom prst="roundRect">
            <a:avLst>
              <a:gd name="adj" fmla="val 6861"/>
            </a:avLst>
          </a:prstGeom>
          <a:solidFill>
            <a:srgbClr val="112836"/>
          </a:solidFill>
        </p:spPr>
      </p:sp>
      <p:sp>
        <p:nvSpPr>
          <p:cNvPr id="58" name="Shape 21"/>
          <p:cNvSpPr/>
          <p:nvPr>
            <p:custDataLst>
              <p:tags r:id="rId22"/>
            </p:custDataLst>
          </p:nvPr>
        </p:nvSpPr>
        <p:spPr>
          <a:xfrm>
            <a:off x="803434" y="6588046"/>
            <a:ext cx="12954952" cy="60960"/>
          </a:xfrm>
          <a:prstGeom prst="roundRect">
            <a:avLst>
              <a:gd name="adj" fmla="val 36078"/>
            </a:avLst>
          </a:prstGeom>
          <a:solidFill>
            <a:srgbClr val="0A988B"/>
          </a:solidFill>
        </p:spPr>
      </p:sp>
      <p:sp>
        <p:nvSpPr>
          <p:cNvPr id="59" name="Shape 22"/>
          <p:cNvSpPr/>
          <p:nvPr>
            <p:custDataLst>
              <p:tags r:id="rId23"/>
            </p:custDataLst>
          </p:nvPr>
        </p:nvSpPr>
        <p:spPr>
          <a:xfrm>
            <a:off x="7061002" y="6383377"/>
            <a:ext cx="439817" cy="439817"/>
          </a:xfrm>
          <a:prstGeom prst="roundRect">
            <a:avLst>
              <a:gd name="adj" fmla="val 207905"/>
            </a:avLst>
          </a:prstGeom>
          <a:solidFill>
            <a:srgbClr val="0A988B"/>
          </a:solidFill>
        </p:spPr>
      </p:sp>
      <p:sp>
        <p:nvSpPr>
          <p:cNvPr id="60" name="Text 23"/>
          <p:cNvSpPr/>
          <p:nvPr>
            <p:custDataLst>
              <p:tags r:id="rId24"/>
            </p:custDataLst>
          </p:nvPr>
        </p:nvSpPr>
        <p:spPr>
          <a:xfrm>
            <a:off x="7192923" y="6493272"/>
            <a:ext cx="175855" cy="219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350" dirty="0"/>
          </a:p>
        </p:txBody>
      </p:sp>
      <p:sp>
        <p:nvSpPr>
          <p:cNvPr id="61" name="Text 24"/>
          <p:cNvSpPr/>
          <p:nvPr>
            <p:custDataLst>
              <p:tags r:id="rId25"/>
            </p:custDataLst>
          </p:nvPr>
        </p:nvSpPr>
        <p:spPr>
          <a:xfrm>
            <a:off x="1807885" y="7247890"/>
            <a:ext cx="3056930" cy="2156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Daha zengin augmentation ve regularization</a:t>
            </a:r>
            <a:r>
              <a:rPr lang="tr-TR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</a:t>
            </a:r>
            <a:endParaRPr lang="tr-TR" sz="14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62" name="Text 25"/>
          <p:cNvSpPr/>
          <p:nvPr>
            <p:custDataLst>
              <p:tags r:id="rId26"/>
            </p:custDataLst>
          </p:nvPr>
        </p:nvSpPr>
        <p:spPr>
          <a:xfrm>
            <a:off x="8056880" y="7174230"/>
            <a:ext cx="4563745" cy="611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RandAugment, CutMix/MixUp, RandomErasing gibi tekniklerin etkisi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Özellikle overfitting kontrolü ve robustluk i</a:t>
            </a:r>
            <a:r>
              <a:rPr lang="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ç</a:t>
            </a:r>
            <a:r>
              <a:rPr lang="en-US" alt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</a:t>
            </a:r>
            <a:endParaRPr lang="en-US" altLang="en-US" sz="1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498533"/>
            <a:ext cx="9856827" cy="12320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700"/>
              </a:lnSpc>
              <a:buNone/>
            </a:pPr>
            <a:r>
              <a:rPr lang="en-US" sz="7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Teşekkürler</a:t>
            </a:r>
            <a:endParaRPr lang="en-US" sz="77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7.74062992125988,&quot;left&quot;:64.16251968503937,&quot;top&quot;:321.15937007874015,&quot;width&quot;:1021.8750393700788}"/>
</p:tagLst>
</file>

<file path=ppt/tags/tag2.xml><?xml version="1.0" encoding="utf-8"?>
<p:tagLst xmlns:p="http://schemas.openxmlformats.org/presentationml/2006/main">
  <p:tag name="KSO_WM_DIAGRAM_VIRTUALLY_FRAME" val="{&quot;height&quot;:147.74062992125988,&quot;left&quot;:64.16251968503937,&quot;top&quot;:321.15937007874015,&quot;width&quot;:1021.8750393700788}"/>
</p:tagLst>
</file>

<file path=ppt/tags/tag3.xml><?xml version="1.0" encoding="utf-8"?>
<p:tagLst xmlns:p="http://schemas.openxmlformats.org/presentationml/2006/main">
  <p:tag name="KSO_WM_DIAGRAM_VIRTUALLY_FRAME" val="{&quot;height&quot;:147.74062992125988,&quot;left&quot;:64.16251968503937,&quot;top&quot;:321.15937007874015,&quot;width&quot;:1021.8750393700788}"/>
</p:tagLst>
</file>

<file path=ppt/tags/tag4.xml><?xml version="1.0" encoding="utf-8"?>
<p:tagLst xmlns:p="http://schemas.openxmlformats.org/presentationml/2006/main">
  <p:tag name="KSO_WM_DIAGRAM_VIRTUALLY_FRAME" val="{&quot;height&quot;:284.25,&quot;left&quot;:64.16251968503937,&quot;top&quot;:285.6,&quot;width&quot;:1053.5374803149607}"/>
</p:tagLst>
</file>

<file path=ppt/tags/tag5.xml><?xml version="1.0" encoding="utf-8"?>
<p:tagLst xmlns:p="http://schemas.openxmlformats.org/presentationml/2006/main">
  <p:tag name="KSO_WM_DIAGRAM_VIRTUALLY_FRAME" val="{&quot;height&quot;:284.25,&quot;left&quot;:64.16251968503937,&quot;top&quot;:285.6,&quot;width&quot;:1053.5374803149607}"/>
</p:tagLst>
</file>

<file path=ppt/tags/tag6.xml><?xml version="1.0" encoding="utf-8"?>
<p:tagLst xmlns:p="http://schemas.openxmlformats.org/presentationml/2006/main">
  <p:tag name="KSO_WM_DIAGRAM_VIRTUALLY_FRAME" val="{&quot;height&quot;:284.25,&quot;left&quot;:64.16251968503937,&quot;top&quot;:285.6,&quot;width&quot;:1053.5374803149607}"/>
</p:tagLst>
</file>

<file path=ppt/tags/tag7.xml><?xml version="1.0" encoding="utf-8"?>
<p:tagLst xmlns:p="http://schemas.openxmlformats.org/presentationml/2006/main">
  <p:tag name="KSO_WM_DIAGRAM_VIRTUALLY_FRAME" val="{&quot;height&quot;:284.25,&quot;left&quot;:64.16251968503937,&quot;top&quot;:285.6,&quot;width&quot;:1053.5374803149607}"/>
</p:tagLst>
</file>

<file path=ppt/tags/tag8.xml><?xml version="1.0" encoding="utf-8"?>
<p:tagLst xmlns:p="http://schemas.openxmlformats.org/presentationml/2006/main">
  <p:tag name="KSO_WM_DIAGRAM_VIRTUALLY_FRAME" val="{&quot;height&quot;:284.25,&quot;left&quot;:64.16251968503937,&quot;top&quot;:285.6,&quot;width&quot;:1053.5374803149607}"/>
</p:tagLst>
</file>

<file path=ppt/tags/tag9.xml><?xml version="1.0" encoding="utf-8"?>
<p:tagLst xmlns:p="http://schemas.openxmlformats.org/presentationml/2006/main">
  <p:tag name="KSO_WM_DIAGRAM_VIRTUALLY_FRAME" val="{&quot;height&quot;:284.25,&quot;left&quot;:64.16251968503937,&quot;top&quot;:285.6,&quot;width&quot;:1053.5374803149607}"/>
</p:tagLst>
</file>

<file path=ppt/tags/tag10.xml><?xml version="1.0" encoding="utf-8"?>
<p:tagLst xmlns:p="http://schemas.openxmlformats.org/presentationml/2006/main">
  <p:tag name="KSO_WM_DIAGRAM_VIRTUALLY_FRAME" val="{&quot;height&quot;:297.7,&quot;left&quot;:65.95,&quot;top&quot;:231.35,&quot;width&quot;:1043.25}"/>
</p:tagLst>
</file>

<file path=ppt/tags/tag11.xml><?xml version="1.0" encoding="utf-8"?>
<p:tagLst xmlns:p="http://schemas.openxmlformats.org/presentationml/2006/main">
  <p:tag name="KSO_WM_DIAGRAM_VIRTUALLY_FRAME" val="{&quot;height&quot;:297.7,&quot;left&quot;:65.95,&quot;top&quot;:231.35,&quot;width&quot;:1043.25}"/>
</p:tagLst>
</file>

<file path=ppt/tags/tag12.xml><?xml version="1.0" encoding="utf-8"?>
<p:tagLst xmlns:p="http://schemas.openxmlformats.org/presentationml/2006/main">
  <p:tag name="KSO_WM_DIAGRAM_VIRTUALLY_FRAME" val="{&quot;height&quot;:297.7,&quot;left&quot;:65.95,&quot;top&quot;:231.35,&quot;width&quot;:1043.25}"/>
</p:tagLst>
</file>

<file path=ppt/tags/tag13.xml><?xml version="1.0" encoding="utf-8"?>
<p:tagLst xmlns:p="http://schemas.openxmlformats.org/presentationml/2006/main">
  <p:tag name="KSO_WM_DIAGRAM_VIRTUALLY_FRAME" val="{&quot;height&quot;:297.7,&quot;left&quot;:65.95,&quot;top&quot;:231.35,&quot;width&quot;:1043.25}"/>
</p:tagLst>
</file>

<file path=ppt/tags/tag14.xml><?xml version="1.0" encoding="utf-8"?>
<p:tagLst xmlns:p="http://schemas.openxmlformats.org/presentationml/2006/main">
  <p:tag name="KSO_WM_DIAGRAM_VIRTUALLY_FRAME" val="{&quot;height&quot;:297.7,&quot;left&quot;:65.95,&quot;top&quot;:231.35,&quot;width&quot;:1043.25}"/>
</p:tagLst>
</file>

<file path=ppt/tags/tag15.xml><?xml version="1.0" encoding="utf-8"?>
<p:tagLst xmlns:p="http://schemas.openxmlformats.org/presentationml/2006/main">
  <p:tag name="KSO_WM_DIAGRAM_VIRTUALLY_FRAME" val="{&quot;height&quot;:297.7,&quot;left&quot;:65.95,&quot;top&quot;:231.35,&quot;width&quot;:1043.25}"/>
</p:tagLst>
</file>

<file path=ppt/tags/tag16.xml><?xml version="1.0" encoding="utf-8"?>
<p:tagLst xmlns:p="http://schemas.openxmlformats.org/presentationml/2006/main">
  <p:tag name="KSO_WM_DIAGRAM_VIRTUALLY_FRAME" val="{&quot;height&quot;:297.7,&quot;left&quot;:65.95,&quot;top&quot;:231.35,&quot;width&quot;:1043.25}"/>
</p:tagLst>
</file>

<file path=ppt/tags/tag17.xml><?xml version="1.0" encoding="utf-8"?>
<p:tagLst xmlns:p="http://schemas.openxmlformats.org/presentationml/2006/main">
  <p:tag name="KSO_WM_DIAGRAM_VIRTUALLY_FRAME" val="{&quot;height&quot;:297.7,&quot;left&quot;:65.95,&quot;top&quot;:231.35,&quot;width&quot;:1043.25}"/>
</p:tagLst>
</file>

<file path=ppt/tags/tag18.xml><?xml version="1.0" encoding="utf-8"?>
<p:tagLst xmlns:p="http://schemas.openxmlformats.org/presentationml/2006/main">
  <p:tag name="KSO_WM_DIAGRAM_VIRTUALLY_FRAME" val="{&quot;height&quot;:297.7,&quot;left&quot;:65.95,&quot;top&quot;:231.35,&quot;width&quot;:1043.25}"/>
</p:tagLst>
</file>

<file path=ppt/tags/tag19.xml><?xml version="1.0" encoding="utf-8"?>
<p:tagLst xmlns:p="http://schemas.openxmlformats.org/presentationml/2006/main">
  <p:tag name="KSO_WM_DIAGRAM_VIRTUALLY_FRAME" val="{&quot;height&quot;:379.6,&quot;left&quot;:65.95,&quot;top&quot;:121.6,&quot;width&quot;:588.1}"/>
</p:tagLst>
</file>

<file path=ppt/tags/tag20.xml><?xml version="1.0" encoding="utf-8"?>
<p:tagLst xmlns:p="http://schemas.openxmlformats.org/presentationml/2006/main">
  <p:tag name="KSO_WM_DIAGRAM_VIRTUALLY_FRAME" val="{&quot;height&quot;:379.6,&quot;left&quot;:65.95,&quot;top&quot;:121.6,&quot;width&quot;:588.1}"/>
</p:tagLst>
</file>

<file path=ppt/tags/tag21.xml><?xml version="1.0" encoding="utf-8"?>
<p:tagLst xmlns:p="http://schemas.openxmlformats.org/presentationml/2006/main">
  <p:tag name="KSO_WM_DIAGRAM_VIRTUALLY_FRAME" val="{&quot;height&quot;:379.6,&quot;left&quot;:65.95,&quot;top&quot;:121.6,&quot;width&quot;:588.1}"/>
</p:tagLst>
</file>

<file path=ppt/tags/tag22.xml><?xml version="1.0" encoding="utf-8"?>
<p:tagLst xmlns:p="http://schemas.openxmlformats.org/presentationml/2006/main">
  <p:tag name="KSO_WM_DIAGRAM_VIRTUALLY_FRAME" val="{&quot;height&quot;:379.6,&quot;left&quot;:65.95,&quot;top&quot;:121.6,&quot;width&quot;:588.1}"/>
</p:tagLst>
</file>

<file path=ppt/tags/tag23.xml><?xml version="1.0" encoding="utf-8"?>
<p:tagLst xmlns:p="http://schemas.openxmlformats.org/presentationml/2006/main">
  <p:tag name="KSO_WM_DIAGRAM_VIRTUALLY_FRAME" val="{&quot;height&quot;:379.6,&quot;left&quot;:65.95,&quot;top&quot;:121.6,&quot;width&quot;:588.1}"/>
</p:tagLst>
</file>

<file path=ppt/tags/tag24.xml><?xml version="1.0" encoding="utf-8"?>
<p:tagLst xmlns:p="http://schemas.openxmlformats.org/presentationml/2006/main">
  <p:tag name="KSO_WM_DIAGRAM_VIRTUALLY_FRAME" val="{&quot;height&quot;:379.6,&quot;left&quot;:65.95,&quot;top&quot;:121.6,&quot;width&quot;:588.1}"/>
</p:tagLst>
</file>

<file path=ppt/tags/tag25.xml><?xml version="1.0" encoding="utf-8"?>
<p:tagLst xmlns:p="http://schemas.openxmlformats.org/presentationml/2006/main">
  <p:tag name="KSO_WM_DIAGRAM_VIRTUALLY_FRAME" val="{&quot;height&quot;:148.3312598425197,&quot;left&quot;:65.96251968503937,&quot;top&quot;:207.72188976377953,&quot;width&quot;:1020.0655905511812}"/>
</p:tagLst>
</file>

<file path=ppt/tags/tag26.xml><?xml version="1.0" encoding="utf-8"?>
<p:tagLst xmlns:p="http://schemas.openxmlformats.org/presentationml/2006/main">
  <p:tag name="KSO_WM_DIAGRAM_VIRTUALLY_FRAME" val="{&quot;height&quot;:148.3312598425197,&quot;left&quot;:65.96251968503937,&quot;top&quot;:207.72188976377953,&quot;width&quot;:1020.0655905511812}"/>
</p:tagLst>
</file>

<file path=ppt/tags/tag27.xml><?xml version="1.0" encoding="utf-8"?>
<p:tagLst xmlns:p="http://schemas.openxmlformats.org/presentationml/2006/main">
  <p:tag name="KSO_WM_DIAGRAM_VIRTUALLY_FRAME" val="{&quot;height&quot;:148.3312598425197,&quot;left&quot;:65.96251968503937,&quot;top&quot;:207.72188976377953,&quot;width&quot;:1020.0655905511812}"/>
</p:tagLst>
</file>

<file path=ppt/tags/tag28.xml><?xml version="1.0" encoding="utf-8"?>
<p:tagLst xmlns:p="http://schemas.openxmlformats.org/presentationml/2006/main">
  <p:tag name="KSO_WM_DIAGRAM_VIRTUALLY_FRAME" val="{&quot;height&quot;:148.3312598425197,&quot;left&quot;:65.96251968503937,&quot;top&quot;:207.72188976377953,&quot;width&quot;:1020.0655905511812}"/>
</p:tagLst>
</file>

<file path=ppt/tags/tag29.xml><?xml version="1.0" encoding="utf-8"?>
<p:tagLst xmlns:p="http://schemas.openxmlformats.org/presentationml/2006/main">
  <p:tag name="KSO_WM_DIAGRAM_VIRTUALLY_FRAME" val="{&quot;height&quot;:148.3312598425197,&quot;left&quot;:65.96251968503937,&quot;top&quot;:207.72188976377953,&quot;width&quot;:1020.0655905511812}"/>
</p:tagLst>
</file>

<file path=ppt/tags/tag30.xml><?xml version="1.0" encoding="utf-8"?>
<p:tagLst xmlns:p="http://schemas.openxmlformats.org/presentationml/2006/main">
  <p:tag name="KSO_WM_DIAGRAM_VIRTUALLY_FRAME" val="{&quot;height&quot;:148.3312598425197,&quot;left&quot;:65.96251968503937,&quot;top&quot;:207.72188976377953,&quot;width&quot;:1020.0655905511812}"/>
</p:tagLst>
</file>

<file path=ppt/tags/tag31.xml><?xml version="1.0" encoding="utf-8"?>
<p:tagLst xmlns:p="http://schemas.openxmlformats.org/presentationml/2006/main">
  <p:tag name="KSO_WM_DIAGRAM_VIRTUALLY_FRAME" val="{&quot;height&quot;:148.3312598425197,&quot;left&quot;:65.96251968503937,&quot;top&quot;:207.72188976377953,&quot;width&quot;:1020.0655905511812}"/>
</p:tagLst>
</file>

<file path=ppt/tags/tag32.xml><?xml version="1.0" encoding="utf-8"?>
<p:tagLst xmlns:p="http://schemas.openxmlformats.org/presentationml/2006/main">
  <p:tag name="KSO_WM_DIAGRAM_VIRTUALLY_FRAME" val="{&quot;height&quot;:148.3312598425197,&quot;left&quot;:65.96251968503937,&quot;top&quot;:207.72188976377953,&quot;width&quot;:1020.0655905511812}"/>
</p:tagLst>
</file>

<file path=ppt/tags/tag33.xml><?xml version="1.0" encoding="utf-8"?>
<p:tagLst xmlns:p="http://schemas.openxmlformats.org/presentationml/2006/main">
  <p:tag name="KSO_WM_DIAGRAM_VIRTUALLY_FRAME" val="{&quot;height&quot;:148.3312598425197,&quot;left&quot;:65.96251968503937,&quot;top&quot;:207.72188976377953,&quot;width&quot;:1020.0655905511812}"/>
</p:tagLst>
</file>

<file path=ppt/tags/tag34.xml><?xml version="1.0" encoding="utf-8"?>
<p:tagLst xmlns:p="http://schemas.openxmlformats.org/presentationml/2006/main">
  <p:tag name="KSO_WM_DIAGRAM_VIRTUALLY_FRAME" val="{&quot;height&quot;:148.3312598425197,&quot;left&quot;:65.96251968503937,&quot;top&quot;:207.72188976377953,&quot;width&quot;:1020.0655905511812}"/>
</p:tagLst>
</file>

<file path=ppt/tags/tag35.xml><?xml version="1.0" encoding="utf-8"?>
<p:tagLst xmlns:p="http://schemas.openxmlformats.org/presentationml/2006/main">
  <p:tag name="KSO_WM_DIAGRAM_VIRTUALLY_FRAME" val="{&quot;height&quot;:148.3312598425197,&quot;left&quot;:65.96251968503937,&quot;top&quot;:207.72188976377953,&quot;width&quot;:1020.0655905511812}"/>
</p:tagLst>
</file>

<file path=ppt/tags/tag36.xml><?xml version="1.0" encoding="utf-8"?>
<p:tagLst xmlns:p="http://schemas.openxmlformats.org/presentationml/2006/main">
  <p:tag name="KSO_WM_DIAGRAM_VIRTUALLY_FRAME" val="{&quot;height&quot;:148.3312598425197,&quot;left&quot;:65.96251968503937,&quot;top&quot;:207.72188976377953,&quot;width&quot;:1020.0655905511812}"/>
</p:tagLst>
</file>

<file path=ppt/tags/tag37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38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39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40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41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42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43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44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45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46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47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48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49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50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51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52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53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54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55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56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57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58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59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60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61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62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63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64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65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66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67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68.xml><?xml version="1.0" encoding="utf-8"?>
<p:tagLst xmlns:p="http://schemas.openxmlformats.org/presentationml/2006/main">
  <p:tag name="KSO_WM_DIAGRAM_VIRTUALLY_FRAME" val="{&quot;height&quot;:470.32811023622054,&quot;left&quot;:65.84062992125985,&quot;top&quot;:122.6812598425197,&quot;width&quot;:1020.3187401574803}"/>
</p:tagLst>
</file>

<file path=ppt/tags/tag69.xml><?xml version="1.0" encoding="utf-8"?>
<p:tagLst xmlns:p="http://schemas.openxmlformats.org/presentationml/2006/main">
  <p:tag name="TABLE_ENDDRAG_ORIGIN_RECT" val="918*250"/>
  <p:tag name="TABLE_ENDDRAG_RECT" val="75*145*918*250"/>
</p:tagLst>
</file>

<file path=ppt/tags/tag70.xml><?xml version="1.0" encoding="utf-8"?>
<p:tagLst xmlns:p="http://schemas.openxmlformats.org/presentationml/2006/main">
  <p:tag name="KSO_WM_DIAGRAM_VIRTUALLY_FRAME" val="{&quot;height&quot;:379.6,&quot;left&quot;:65.95,&quot;top&quot;:121.6,&quot;width&quot;:588.1}"/>
</p:tagLst>
</file>

<file path=ppt/tags/tag71.xml><?xml version="1.0" encoding="utf-8"?>
<p:tagLst xmlns:p="http://schemas.openxmlformats.org/presentationml/2006/main">
  <p:tag name="KSO_WM_DIAGRAM_VIRTUALLY_FRAME" val="{&quot;height&quot;:379.6,&quot;left&quot;:65.95,&quot;top&quot;:121.6,&quot;width&quot;:588.1}"/>
</p:tagLst>
</file>

<file path=ppt/tags/tag72.xml><?xml version="1.0" encoding="utf-8"?>
<p:tagLst xmlns:p="http://schemas.openxmlformats.org/presentationml/2006/main">
  <p:tag name="KSO_WM_DIAGRAM_VIRTUALLY_FRAME" val="{&quot;height&quot;:379.6,&quot;left&quot;:65.95,&quot;top&quot;:121.6,&quot;width&quot;:588.1}"/>
</p:tagLst>
</file>

<file path=ppt/tags/tag73.xml><?xml version="1.0" encoding="utf-8"?>
<p:tagLst xmlns:p="http://schemas.openxmlformats.org/presentationml/2006/main">
  <p:tag name="KSO_WM_DIAGRAM_VIRTUALLY_FRAME" val="{&quot;height&quot;:379.6,&quot;left&quot;:65.95,&quot;top&quot;:121.6,&quot;width&quot;:588.1}"/>
</p:tagLst>
</file>

<file path=ppt/tags/tag74.xml><?xml version="1.0" encoding="utf-8"?>
<p:tagLst xmlns:p="http://schemas.openxmlformats.org/presentationml/2006/main">
  <p:tag name="KSO_WM_DIAGRAM_VIRTUALLY_FRAME" val="{&quot;height&quot;:379.6,&quot;left&quot;:65.95,&quot;top&quot;:121.6,&quot;width&quot;:588.1}"/>
</p:tagLst>
</file>

<file path=ppt/tags/tag75.xml><?xml version="1.0" encoding="utf-8"?>
<p:tagLst xmlns:p="http://schemas.openxmlformats.org/presentationml/2006/main">
  <p:tag name="KSO_WM_DIAGRAM_VIRTUALLY_FRAME" val="{&quot;height&quot;:379.6,&quot;left&quot;:65.95,&quot;top&quot;:121.6,&quot;width&quot;:588.1}"/>
</p:tagLst>
</file>

<file path=ppt/tags/tag76.xml><?xml version="1.0" encoding="utf-8"?>
<p:tagLst xmlns:p="http://schemas.openxmlformats.org/presentationml/2006/main">
  <p:tag name="KSO_WM_DIAGRAM_VIRTUALLY_FRAME" val="{&quot;height&quot;:156.6656692913386,&quot;left&quot;:67.76251968503936,&quot;top&quot;:156.09062992125985,&quot;width&quot;:997.5750393700791}"/>
</p:tagLst>
</file>

<file path=ppt/tags/tag77.xml><?xml version="1.0" encoding="utf-8"?>
<p:tagLst xmlns:p="http://schemas.openxmlformats.org/presentationml/2006/main">
  <p:tag name="KSO_WM_DIAGRAM_VIRTUALLY_FRAME" val="{&quot;height&quot;:156.6656692913386,&quot;left&quot;:67.76251968503936,&quot;top&quot;:156.09062992125985,&quot;width&quot;:997.5750393700791}"/>
</p:tagLst>
</file>

<file path=ppt/tags/tag78.xml><?xml version="1.0" encoding="utf-8"?>
<p:tagLst xmlns:p="http://schemas.openxmlformats.org/presentationml/2006/main">
  <p:tag name="KSO_WM_DIAGRAM_VIRTUALLY_FRAME" val="{&quot;height&quot;:156.6656692913386,&quot;left&quot;:67.76251968503936,&quot;top&quot;:156.09062992125985,&quot;width&quot;:997.5750393700791}"/>
</p:tagLst>
</file>

<file path=ppt/tags/tag79.xml><?xml version="1.0" encoding="utf-8"?>
<p:tagLst xmlns:p="http://schemas.openxmlformats.org/presentationml/2006/main">
  <p:tag name="KSO_WM_DIAGRAM_VIRTUALLY_FRAME" val="{&quot;height&quot;:156.6656692913386,&quot;left&quot;:67.76251968503936,&quot;top&quot;:156.09062992125985,&quot;width&quot;:997.5750393700791}"/>
</p:tagLst>
</file>

<file path=ppt/tags/tag80.xml><?xml version="1.0" encoding="utf-8"?>
<p:tagLst xmlns:p="http://schemas.openxmlformats.org/presentationml/2006/main">
  <p:tag name="KSO_WM_DIAGRAM_VIRTUALLY_FRAME" val="{&quot;height&quot;:156.6656692913386,&quot;left&quot;:67.76251968503936,&quot;top&quot;:156.09062992125985,&quot;width&quot;:997.5750393700791}"/>
</p:tagLst>
</file>

<file path=ppt/tags/tag81.xml><?xml version="1.0" encoding="utf-8"?>
<p:tagLst xmlns:p="http://schemas.openxmlformats.org/presentationml/2006/main">
  <p:tag name="KSO_WM_DIAGRAM_VIRTUALLY_FRAME" val="{&quot;height&quot;:156.6656692913386,&quot;left&quot;:67.76251968503936,&quot;top&quot;:156.09062992125985,&quot;width&quot;:997.5750393700791}"/>
</p:tagLst>
</file>

<file path=ppt/tags/tag82.xml><?xml version="1.0" encoding="utf-8"?>
<p:tagLst xmlns:p="http://schemas.openxmlformats.org/presentationml/2006/main">
  <p:tag name="KSO_WM_DIAGRAM_VIRTUALLY_FRAME" val="{&quot;height&quot;:156.6656692913386,&quot;left&quot;:67.76251968503936,&quot;top&quot;:156.09062992125985,&quot;width&quot;:997.5750393700791}"/>
</p:tagLst>
</file>

<file path=ppt/tags/tag83.xml><?xml version="1.0" encoding="utf-8"?>
<p:tagLst xmlns:p="http://schemas.openxmlformats.org/presentationml/2006/main">
  <p:tag name="KSO_WM_DIAGRAM_VIRTUALLY_FRAME" val="{&quot;height&quot;:156.6656692913386,&quot;left&quot;:67.76251968503936,&quot;top&quot;:156.09062992125985,&quot;width&quot;:997.5750393700791}"/>
</p:tagLst>
</file>

<file path=ppt/tags/tag84.xml><?xml version="1.0" encoding="utf-8"?>
<p:tagLst xmlns:p="http://schemas.openxmlformats.org/presentationml/2006/main">
  <p:tag name="KSO_WM_DIAGRAM_VIRTUALLY_FRAME" val="{&quot;height&quot;:156.6656692913386,&quot;left&quot;:67.76251968503936,&quot;top&quot;:156.09062992125985,&quot;width&quot;:997.5750393700791}"/>
</p:tagLst>
</file>

<file path=ppt/tags/tag85.xml><?xml version="1.0" encoding="utf-8"?>
<p:tagLst xmlns:p="http://schemas.openxmlformats.org/presentationml/2006/main">
  <p:tag name="KSO_WM_DIAGRAM_VIRTUALLY_FRAME" val="{&quot;height&quot;:156.6656692913386,&quot;left&quot;:67.76251968503936,&quot;top&quot;:156.09062992125985,&quot;width&quot;:997.5750393700791}"/>
</p:tagLst>
</file>

<file path=ppt/tags/tag86.xml><?xml version="1.0" encoding="utf-8"?>
<p:tagLst xmlns:p="http://schemas.openxmlformats.org/presentationml/2006/main">
  <p:tag name="KSO_WM_DIAGRAM_VIRTUALLY_FRAME" val="{&quot;height&quot;:156.6656692913386,&quot;left&quot;:67.76251968503936,&quot;top&quot;:156.09062992125985,&quot;width&quot;:997.5750393700791}"/>
</p:tagLst>
</file>

<file path=ppt/tags/tag87.xml><?xml version="1.0" encoding="utf-8"?>
<p:tagLst xmlns:p="http://schemas.openxmlformats.org/presentationml/2006/main">
  <p:tag name="KSO_WM_DIAGRAM_VIRTUALLY_FRAME" val="{&quot;height&quot;:156.6656692913386,&quot;left&quot;:67.76251968503936,&quot;top&quot;:156.09062992125985,&quot;width&quot;:997.5750393700791}"/>
</p:tagLst>
</file>

<file path=ppt/tags/tag88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89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90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91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92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93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94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95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96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97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98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99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00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01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02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03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04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05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06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07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08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09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10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11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12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ags/tag113.xml><?xml version="1.0" encoding="utf-8"?>
<p:tagLst xmlns:p="http://schemas.openxmlformats.org/presentationml/2006/main">
  <p:tag name="KSO_WM_DIAGRAM_VIRTUALLY_FRAME" val="{&quot;height&quot;:507.9718897637795,&quot;left&quot;:63.262519685039386,&quot;top&quot;:114.42811023622048,&quot;width&quot;:1032.774960629921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14742</Words>
  <Application>WPS Presentation</Application>
  <PresentationFormat>On-screen Show (16:9)</PresentationFormat>
  <Paragraphs>656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SimSun</vt:lpstr>
      <vt:lpstr>Wingdings</vt:lpstr>
      <vt:lpstr>Unbounded</vt:lpstr>
      <vt:lpstr>Unbounded</vt:lpstr>
      <vt:lpstr>Unbounded</vt:lpstr>
      <vt:lpstr>Cabin</vt:lpstr>
      <vt:lpstr>Cabin</vt:lpstr>
      <vt:lpstr>Cabin</vt:lpstr>
      <vt:lpstr>Unbounded Light</vt:lpstr>
      <vt:lpstr>Segoe Print</vt:lpstr>
      <vt:lpstr>Unbounded Light</vt:lpstr>
      <vt:lpstr>Unbounded Light</vt:lpstr>
      <vt:lpstr>Calibri</vt:lpstr>
      <vt:lpstr>Microsoft YaHei</vt:lpstr>
      <vt:lpstr>Arial Unicode MS</vt:lpstr>
      <vt:lpstr>MingLiU-ExtB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WPS_1762795436</cp:lastModifiedBy>
  <cp:revision>3</cp:revision>
  <dcterms:created xsi:type="dcterms:W3CDTF">2025-12-14T19:36:00Z</dcterms:created>
  <dcterms:modified xsi:type="dcterms:W3CDTF">2026-01-20T09:02:13Z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F2D91A32C19942A1B7ED4A46DB48A4E2_13</vt:lpwstr>
  </property>
  <property fmtid="{D5CDD505-2E9C-101B-9397-08002B2CF9AE}" pid="3" name="KSOProductBuildVer">
    <vt:lpwstr>1033-12.2.0.23197</vt:lpwstr>
  </property>
</Properties>
</file>